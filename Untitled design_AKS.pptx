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8" r:id="rId2"/>
    <p:sldId id="262" r:id="rId3"/>
    <p:sldId id="260" r:id="rId4"/>
    <p:sldId id="261" r:id="rId5"/>
    <p:sldId id="269" r:id="rId6"/>
    <p:sldId id="263" r:id="rId7"/>
    <p:sldId id="264" r:id="rId8"/>
    <p:sldId id="266" r:id="rId9"/>
    <p:sldId id="267" r:id="rId10"/>
    <p:sldId id="265" r:id="rId11"/>
    <p:sldId id="268" r:id="rId12"/>
    <p:sldId id="259" r:id="rId13"/>
    <p:sldId id="256" r:id="rId14"/>
    <p:sldId id="257" r:id="rId15"/>
  </p:sldIdLst>
  <p:sldSz cx="7556500" cy="10693400"/>
  <p:notesSz cx="6858000" cy="9144000"/>
  <p:embeddedFontLst>
    <p:embeddedFont>
      <p:font typeface="Poppins" panose="020B0604020202020204" charset="0"/>
      <p:regular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Horizon" panose="020B0604020202020204" charset="0"/>
      <p:regular r:id="rId22"/>
    </p:embeddedFont>
    <p:embeddedFont>
      <p:font typeface="Microsoft Sans Serif" panose="020B0604020202020204" pitchFamily="3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88AB"/>
    <a:srgbClr val="F4F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3606" y="7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DAF6C-D877-4DA3-9242-EEC9CD3613D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96892-472B-4A83-AA59-763D33E99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4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E96892-472B-4A83-AA59-763D33E99A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87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653334" y="3029070"/>
            <a:ext cx="3110181" cy="16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3"/>
              </a:lnSpc>
            </a:pPr>
            <a:r>
              <a:rPr lang="en-US" sz="1365" spc="-57">
                <a:solidFill>
                  <a:srgbClr val="7388AB"/>
                </a:solidFill>
                <a:latin typeface="Poppins"/>
                <a:ea typeface="Poppins"/>
                <a:cs typeface="Poppins"/>
                <a:sym typeface="Poppins"/>
              </a:rPr>
              <a:t>@reallygreatsite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22793" y="2735362"/>
            <a:ext cx="5310915" cy="5222676"/>
            <a:chOff x="0" y="0"/>
            <a:chExt cx="1903312" cy="18716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3312" cy="1871689"/>
            </a:xfrm>
            <a:custGeom>
              <a:avLst/>
              <a:gdLst/>
              <a:ahLst/>
              <a:cxnLst/>
              <a:rect l="l" t="t" r="r" b="b"/>
              <a:pathLst>
                <a:path w="1903312" h="1871689">
                  <a:moveTo>
                    <a:pt x="55394" y="0"/>
                  </a:moveTo>
                  <a:lnTo>
                    <a:pt x="1847918" y="0"/>
                  </a:lnTo>
                  <a:cubicBezTo>
                    <a:pt x="1878511" y="0"/>
                    <a:pt x="1903312" y="24801"/>
                    <a:pt x="1903312" y="55394"/>
                  </a:cubicBezTo>
                  <a:lnTo>
                    <a:pt x="1903312" y="1816295"/>
                  </a:lnTo>
                  <a:cubicBezTo>
                    <a:pt x="1903312" y="1846888"/>
                    <a:pt x="1878511" y="1871689"/>
                    <a:pt x="1847918" y="1871689"/>
                  </a:cubicBezTo>
                  <a:lnTo>
                    <a:pt x="55394" y="1871689"/>
                  </a:lnTo>
                  <a:cubicBezTo>
                    <a:pt x="24801" y="1871689"/>
                    <a:pt x="0" y="1846888"/>
                    <a:pt x="0" y="1816295"/>
                  </a:cubicBezTo>
                  <a:lnTo>
                    <a:pt x="0" y="55394"/>
                  </a:lnTo>
                  <a:cubicBezTo>
                    <a:pt x="0" y="24801"/>
                    <a:pt x="24801" y="0"/>
                    <a:pt x="5539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7388AB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903312" cy="1900264"/>
            </a:xfrm>
            <a:prstGeom prst="rect">
              <a:avLst/>
            </a:prstGeom>
          </p:spPr>
          <p:txBody>
            <a:bodyPr lIns="84000" tIns="84000" rIns="84000" bIns="840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12306" y="4290962"/>
            <a:ext cx="5531887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81"/>
              </a:lnSpc>
            </a:pPr>
            <a:r>
              <a:rPr lang="en-US" sz="7200" spc="-398" dirty="0" smtClean="0">
                <a:solidFill>
                  <a:srgbClr val="7388AB"/>
                </a:solidFill>
                <a:latin typeface="Horizon"/>
                <a:ea typeface="Horizon"/>
                <a:cs typeface="Horizon"/>
                <a:sym typeface="Horizon"/>
              </a:rPr>
              <a:t>User</a:t>
            </a:r>
            <a:br>
              <a:rPr lang="en-US" sz="7200" spc="-398" dirty="0" smtClean="0">
                <a:solidFill>
                  <a:srgbClr val="7388AB"/>
                </a:solidFill>
                <a:latin typeface="Horizon"/>
                <a:ea typeface="Horizon"/>
                <a:cs typeface="Horizon"/>
                <a:sym typeface="Horizon"/>
              </a:rPr>
            </a:br>
            <a:r>
              <a:rPr lang="en-US" sz="7200" spc="-398" dirty="0" smtClean="0">
                <a:solidFill>
                  <a:srgbClr val="7388AB"/>
                </a:solidFill>
                <a:latin typeface="Horizon"/>
                <a:ea typeface="Horizon"/>
                <a:cs typeface="Horizon"/>
                <a:sym typeface="Horizon"/>
              </a:rPr>
              <a:t>guide</a:t>
            </a:r>
            <a:endParaRPr lang="en-US" sz="7200" spc="-398" dirty="0">
              <a:solidFill>
                <a:srgbClr val="7388AB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</p:spTree>
    <p:extLst>
      <p:ext uri="{BB962C8B-B14F-4D97-AF65-F5344CB8AC3E}">
        <p14:creationId xmlns:p14="http://schemas.microsoft.com/office/powerpoint/2010/main" val="325520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22793" y="2735362"/>
            <a:ext cx="5310915" cy="5222676"/>
            <a:chOff x="0" y="0"/>
            <a:chExt cx="1903312" cy="18716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3312" cy="1871689"/>
            </a:xfrm>
            <a:custGeom>
              <a:avLst/>
              <a:gdLst/>
              <a:ahLst/>
              <a:cxnLst/>
              <a:rect l="l" t="t" r="r" b="b"/>
              <a:pathLst>
                <a:path w="1903312" h="1871689">
                  <a:moveTo>
                    <a:pt x="55394" y="0"/>
                  </a:moveTo>
                  <a:lnTo>
                    <a:pt x="1847918" y="0"/>
                  </a:lnTo>
                  <a:cubicBezTo>
                    <a:pt x="1878511" y="0"/>
                    <a:pt x="1903312" y="24801"/>
                    <a:pt x="1903312" y="55394"/>
                  </a:cubicBezTo>
                  <a:lnTo>
                    <a:pt x="1903312" y="1816295"/>
                  </a:lnTo>
                  <a:cubicBezTo>
                    <a:pt x="1903312" y="1846888"/>
                    <a:pt x="1878511" y="1871689"/>
                    <a:pt x="1847918" y="1871689"/>
                  </a:cubicBezTo>
                  <a:lnTo>
                    <a:pt x="55394" y="1871689"/>
                  </a:lnTo>
                  <a:cubicBezTo>
                    <a:pt x="24801" y="1871689"/>
                    <a:pt x="0" y="1846888"/>
                    <a:pt x="0" y="1816295"/>
                  </a:cubicBezTo>
                  <a:lnTo>
                    <a:pt x="0" y="55394"/>
                  </a:lnTo>
                  <a:cubicBezTo>
                    <a:pt x="0" y="24801"/>
                    <a:pt x="24801" y="0"/>
                    <a:pt x="5539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7388AB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903312" cy="1900264"/>
            </a:xfrm>
            <a:prstGeom prst="rect">
              <a:avLst/>
            </a:prstGeom>
          </p:spPr>
          <p:txBody>
            <a:bodyPr lIns="84000" tIns="84000" rIns="84000" bIns="840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sp>
        <p:nvSpPr>
          <p:cNvPr id="16" name="TextBox 11"/>
          <p:cNvSpPr txBox="1"/>
          <p:nvPr/>
        </p:nvSpPr>
        <p:spPr>
          <a:xfrm>
            <a:off x="1423599" y="482494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err="1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Daftar</a:t>
            </a: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600" b="1" spc="-213" dirty="0" err="1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Pustaka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19237" y="2998509"/>
            <a:ext cx="52144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/>
            </a:r>
            <a:b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/>
            </a:r>
            <a:b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Cover …………………………………………………………………………….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i</a:t>
            </a:r>
            <a:endParaRPr lang="en-US" dirty="0" smtClean="0">
              <a:solidFill>
                <a:srgbClr val="7388AB"/>
              </a:solidFill>
              <a:latin typeface="Consolas" panose="020B0609020204030204" pitchFamily="49" charset="0"/>
            </a:endParaRPr>
          </a:p>
          <a:p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Daftar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Pustaka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…………………………………………………….ii</a:t>
            </a:r>
          </a:p>
          <a:p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----------------------------------------</a:t>
            </a:r>
            <a:b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Login ……………………………………………………………………………. 1</a:t>
            </a:r>
            <a:b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Role ………………………………………………………………………………. 2</a:t>
            </a:r>
            <a:b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Dashboard …………………………………………………………………. 3-6</a:t>
            </a:r>
          </a:p>
          <a:p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Approval ……………………………………………………………………. 7</a:t>
            </a:r>
          </a:p>
          <a:p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/>
            </a:r>
            <a:b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</a:br>
            <a:endParaRPr lang="en-US" dirty="0" smtClean="0">
              <a:solidFill>
                <a:srgbClr val="7388AB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7388AB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7388A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68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t="-6756" b="-6756"/>
            </a:stretch>
          </a:blipFill>
        </p:spPr>
      </p:sp>
      <p:sp>
        <p:nvSpPr>
          <p:cNvPr id="33" name="Freeform 5"/>
          <p:cNvSpPr/>
          <p:nvPr/>
        </p:nvSpPr>
        <p:spPr>
          <a:xfrm>
            <a:off x="292100" y="8152365"/>
            <a:ext cx="6972300" cy="1690135"/>
          </a:xfrm>
          <a:custGeom>
            <a:avLst/>
            <a:gdLst/>
            <a:ahLst/>
            <a:cxnLst/>
            <a:rect l="l" t="t" r="r" b="b"/>
            <a:pathLst>
              <a:path w="1903312" h="2152852">
                <a:moveTo>
                  <a:pt x="55394" y="0"/>
                </a:moveTo>
                <a:lnTo>
                  <a:pt x="1847918" y="0"/>
                </a:lnTo>
                <a:cubicBezTo>
                  <a:pt x="1878511" y="0"/>
                  <a:pt x="1903312" y="24801"/>
                  <a:pt x="1903312" y="55394"/>
                </a:cubicBezTo>
                <a:lnTo>
                  <a:pt x="1903312" y="2097458"/>
                </a:lnTo>
                <a:cubicBezTo>
                  <a:pt x="1903312" y="2128051"/>
                  <a:pt x="1878511" y="2152852"/>
                  <a:pt x="1847918" y="2152852"/>
                </a:cubicBezTo>
                <a:lnTo>
                  <a:pt x="55394" y="2152852"/>
                </a:lnTo>
                <a:cubicBezTo>
                  <a:pt x="24801" y="2152852"/>
                  <a:pt x="0" y="2128051"/>
                  <a:pt x="0" y="2097458"/>
                </a:cubicBezTo>
                <a:lnTo>
                  <a:pt x="0" y="55394"/>
                </a:lnTo>
                <a:cubicBezTo>
                  <a:pt x="0" y="24801"/>
                  <a:pt x="24801" y="0"/>
                  <a:pt x="55394" y="0"/>
                </a:cubicBez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7388AB"/>
            </a:solidFill>
            <a:prstDash val="solid"/>
            <a:round/>
          </a:ln>
        </p:spPr>
      </p:sp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219237" y="482494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LOGIN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t="2737" b="10653"/>
          <a:stretch/>
        </p:blipFill>
        <p:spPr>
          <a:xfrm>
            <a:off x="777875" y="1841500"/>
            <a:ext cx="6000750" cy="27949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1"/>
          <p:cNvSpPr txBox="1"/>
          <p:nvPr/>
        </p:nvSpPr>
        <p:spPr>
          <a:xfrm>
            <a:off x="8614651" y="3029070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LOGIN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304800" y="4965700"/>
            <a:ext cx="5449597" cy="2824094"/>
            <a:chOff x="10368253" y="4122806"/>
            <a:chExt cx="5449597" cy="2824094"/>
          </a:xfrm>
        </p:grpSpPr>
        <p:grpSp>
          <p:nvGrpSpPr>
            <p:cNvPr id="4" name="Group 4"/>
            <p:cNvGrpSpPr/>
            <p:nvPr/>
          </p:nvGrpSpPr>
          <p:grpSpPr>
            <a:xfrm>
              <a:off x="10368253" y="4122806"/>
              <a:ext cx="5310915" cy="2824094"/>
              <a:chOff x="0" y="-28575"/>
              <a:chExt cx="1903312" cy="218142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03312" cy="2152852"/>
              </a:xfrm>
              <a:custGeom>
                <a:avLst/>
                <a:gdLst/>
                <a:ahLst/>
                <a:cxnLst/>
                <a:rect l="l" t="t" r="r" b="b"/>
                <a:pathLst>
                  <a:path w="1903312" h="2152852">
                    <a:moveTo>
                      <a:pt x="55394" y="0"/>
                    </a:moveTo>
                    <a:lnTo>
                      <a:pt x="1847918" y="0"/>
                    </a:lnTo>
                    <a:cubicBezTo>
                      <a:pt x="1878511" y="0"/>
                      <a:pt x="1903312" y="24801"/>
                      <a:pt x="1903312" y="55394"/>
                    </a:cubicBezTo>
                    <a:lnTo>
                      <a:pt x="1903312" y="2097458"/>
                    </a:lnTo>
                    <a:cubicBezTo>
                      <a:pt x="1903312" y="2128051"/>
                      <a:pt x="1878511" y="2152852"/>
                      <a:pt x="1847918" y="2152852"/>
                    </a:cubicBezTo>
                    <a:lnTo>
                      <a:pt x="55394" y="2152852"/>
                    </a:lnTo>
                    <a:cubicBezTo>
                      <a:pt x="24801" y="2152852"/>
                      <a:pt x="0" y="2128051"/>
                      <a:pt x="0" y="2097458"/>
                    </a:cubicBezTo>
                    <a:lnTo>
                      <a:pt x="0" y="55394"/>
                    </a:lnTo>
                    <a:cubicBezTo>
                      <a:pt x="0" y="24801"/>
                      <a:pt x="24801" y="0"/>
                      <a:pt x="553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7388AB"/>
                </a:solidFill>
                <a:prstDash val="solid"/>
                <a:round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1903312" cy="2181427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10483850" y="4345499"/>
              <a:ext cx="53340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LOGIN PAGE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Pada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page login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ini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,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berfungsi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untuk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membedakan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3 Role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1. Leader (Page A)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2. SPV UP (Page B)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3. Admin  (Page B +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Ubah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Jadwal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Puasa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)</a:t>
              </a:r>
              <a:endParaRPr lang="en-US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97" y="8338078"/>
            <a:ext cx="3762900" cy="1295581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1" name="TextBox 30"/>
          <p:cNvSpPr txBox="1"/>
          <p:nvPr/>
        </p:nvSpPr>
        <p:spPr>
          <a:xfrm>
            <a:off x="4314480" y="8380200"/>
            <a:ext cx="2801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Login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dilakukan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dengan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menginput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NIK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pada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username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dan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password</a:t>
            </a:r>
            <a:endParaRPr lang="en-US" b="1" dirty="0">
              <a:solidFill>
                <a:srgbClr val="7388AB"/>
              </a:solidFill>
              <a:latin typeface="Consolas" panose="020B0609020204030204" pitchFamily="49" charset="0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000" b="90000" l="10000" r="90000">
                        <a14:foregroundMark x1="41250" y1="41167" x2="49417" y2="37250"/>
                        <a14:foregroundMark x1="58417" y1="43167" x2="63500" y2="36917"/>
                        <a14:foregroundMark x1="44750" y1="73583" x2="35000" y2="76667"/>
                        <a14:foregroundMark x1="38917" y1="81417" x2="31833" y2="78250"/>
                        <a14:foregroundMark x1="33833" y1="79083" x2="31833" y2="76333"/>
                        <a14:foregroundMark x1="40083" y1="81750" x2="30333" y2="78250"/>
                        <a14:foregroundMark x1="61167" y1="78250" x2="73583" y2="78250"/>
                        <a14:foregroundMark x1="62667" y1="80250" x2="72417" y2="79083"/>
                        <a14:foregroundMark x1="70917" y1="80583" x2="74000" y2="79083"/>
                        <a14:foregroundMark x1="24417" y1="31833" x2="26417" y2="22833"/>
                        <a14:foregroundMark x1="25583" y1="22417" x2="17833" y2="22417"/>
                        <a14:foregroundMark x1="20167" y1="21667" x2="18167" y2="27500"/>
                        <a14:foregroundMark x1="24083" y1="33750" x2="15833" y2="25917"/>
                        <a14:foregroundMark x1="21333" y1="35750" x2="17417" y2="27917"/>
                        <a14:foregroundMark x1="19333" y1="36083" x2="16667" y2="255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106" y="5265318"/>
            <a:ext cx="2710991" cy="2710991"/>
          </a:xfrm>
          <a:prstGeom prst="rect">
            <a:avLst/>
          </a:prstGeom>
        </p:spPr>
      </p:pic>
      <p:sp>
        <p:nvSpPr>
          <p:cNvPr id="36" name="Pentagon 35"/>
          <p:cNvSpPr/>
          <p:nvPr/>
        </p:nvSpPr>
        <p:spPr>
          <a:xfrm flipH="1">
            <a:off x="6316601" y="10147300"/>
            <a:ext cx="1239899" cy="381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0908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3"/>
          <a:srcRect l="1923" t="7602" r="56063" b="4925"/>
          <a:stretch/>
        </p:blipFill>
        <p:spPr>
          <a:xfrm>
            <a:off x="4122785" y="3002280"/>
            <a:ext cx="3219456" cy="66382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219237" y="482494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ROLE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sp>
        <p:nvSpPr>
          <p:cNvPr id="18" name="TextBox 11"/>
          <p:cNvSpPr txBox="1"/>
          <p:nvPr/>
        </p:nvSpPr>
        <p:spPr>
          <a:xfrm>
            <a:off x="8614651" y="3029070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LOGIN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sp>
        <p:nvSpPr>
          <p:cNvPr id="21" name="Freeform 5"/>
          <p:cNvSpPr/>
          <p:nvPr/>
        </p:nvSpPr>
        <p:spPr>
          <a:xfrm>
            <a:off x="273051" y="2066492"/>
            <a:ext cx="3219456" cy="649288"/>
          </a:xfrm>
          <a:custGeom>
            <a:avLst/>
            <a:gdLst/>
            <a:ahLst/>
            <a:cxnLst/>
            <a:rect l="l" t="t" r="r" b="b"/>
            <a:pathLst>
              <a:path w="1903312" h="2152852">
                <a:moveTo>
                  <a:pt x="55394" y="0"/>
                </a:moveTo>
                <a:lnTo>
                  <a:pt x="1847918" y="0"/>
                </a:lnTo>
                <a:cubicBezTo>
                  <a:pt x="1878511" y="0"/>
                  <a:pt x="1903312" y="24801"/>
                  <a:pt x="1903312" y="55394"/>
                </a:cubicBezTo>
                <a:lnTo>
                  <a:pt x="1903312" y="2097458"/>
                </a:lnTo>
                <a:cubicBezTo>
                  <a:pt x="1903312" y="2128051"/>
                  <a:pt x="1878511" y="2152852"/>
                  <a:pt x="1847918" y="2152852"/>
                </a:cubicBezTo>
                <a:lnTo>
                  <a:pt x="55394" y="2152852"/>
                </a:lnTo>
                <a:cubicBezTo>
                  <a:pt x="24801" y="2152852"/>
                  <a:pt x="0" y="2128051"/>
                  <a:pt x="0" y="2097458"/>
                </a:cubicBezTo>
                <a:lnTo>
                  <a:pt x="0" y="55394"/>
                </a:lnTo>
                <a:cubicBezTo>
                  <a:pt x="0" y="24801"/>
                  <a:pt x="24801" y="0"/>
                  <a:pt x="55394" y="0"/>
                </a:cubicBez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7388AB"/>
            </a:solidFill>
            <a:prstDash val="solid"/>
            <a:round/>
          </a:ln>
        </p:spPr>
        <p:txBody>
          <a:bodyPr/>
          <a:lstStyle/>
          <a:p>
            <a:r>
              <a:rPr lang="en-US" b="1" dirty="0" smtClean="0"/>
              <a:t>PAGE A : </a:t>
            </a:r>
            <a:r>
              <a:rPr lang="en-US" dirty="0" smtClean="0"/>
              <a:t>Dashboard </a:t>
            </a:r>
            <a:r>
              <a:rPr lang="en-US" dirty="0" err="1" smtClean="0"/>
              <a:t>Dekidaka</a:t>
            </a:r>
            <a:r>
              <a:rPr lang="en-US" dirty="0" smtClean="0"/>
              <a:t> &amp; Data History</a:t>
            </a:r>
            <a:endParaRPr lang="en-US" b="1" dirty="0"/>
          </a:p>
        </p:txBody>
      </p:sp>
      <p:sp>
        <p:nvSpPr>
          <p:cNvPr id="26" name="Freeform 5"/>
          <p:cNvSpPr/>
          <p:nvPr/>
        </p:nvSpPr>
        <p:spPr>
          <a:xfrm>
            <a:off x="4091926" y="2063855"/>
            <a:ext cx="3219456" cy="649288"/>
          </a:xfrm>
          <a:custGeom>
            <a:avLst/>
            <a:gdLst/>
            <a:ahLst/>
            <a:cxnLst/>
            <a:rect l="l" t="t" r="r" b="b"/>
            <a:pathLst>
              <a:path w="1903312" h="2152852">
                <a:moveTo>
                  <a:pt x="55394" y="0"/>
                </a:moveTo>
                <a:lnTo>
                  <a:pt x="1847918" y="0"/>
                </a:lnTo>
                <a:cubicBezTo>
                  <a:pt x="1878511" y="0"/>
                  <a:pt x="1903312" y="24801"/>
                  <a:pt x="1903312" y="55394"/>
                </a:cubicBezTo>
                <a:lnTo>
                  <a:pt x="1903312" y="2097458"/>
                </a:lnTo>
                <a:cubicBezTo>
                  <a:pt x="1903312" y="2128051"/>
                  <a:pt x="1878511" y="2152852"/>
                  <a:pt x="1847918" y="2152852"/>
                </a:cubicBezTo>
                <a:lnTo>
                  <a:pt x="55394" y="2152852"/>
                </a:lnTo>
                <a:cubicBezTo>
                  <a:pt x="24801" y="2152852"/>
                  <a:pt x="0" y="2128051"/>
                  <a:pt x="0" y="2097458"/>
                </a:cubicBezTo>
                <a:lnTo>
                  <a:pt x="0" y="55394"/>
                </a:lnTo>
                <a:cubicBezTo>
                  <a:pt x="0" y="24801"/>
                  <a:pt x="24801" y="0"/>
                  <a:pt x="55394" y="0"/>
                </a:cubicBez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7388AB"/>
            </a:solidFill>
            <a:prstDash val="solid"/>
            <a:round/>
          </a:ln>
        </p:spPr>
        <p:txBody>
          <a:bodyPr/>
          <a:lstStyle/>
          <a:p>
            <a:r>
              <a:rPr lang="en-US" b="1" dirty="0" smtClean="0"/>
              <a:t>PAGE B : </a:t>
            </a:r>
            <a:r>
              <a:rPr lang="en-US" dirty="0" smtClean="0"/>
              <a:t>Dashboard </a:t>
            </a:r>
            <a:r>
              <a:rPr lang="en-US" dirty="0" err="1" smtClean="0"/>
              <a:t>Dekidaka</a:t>
            </a:r>
            <a:r>
              <a:rPr lang="en-US" dirty="0" smtClean="0"/>
              <a:t>, Approval, Data </a:t>
            </a:r>
            <a:r>
              <a:rPr lang="en-US" dirty="0" err="1" smtClean="0"/>
              <a:t>History+chartnya</a:t>
            </a:r>
            <a:endParaRPr lang="en-US" b="1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5"/>
          <a:srcRect l="3273" t="4152" r="32719" b="7107"/>
          <a:stretch/>
        </p:blipFill>
        <p:spPr>
          <a:xfrm>
            <a:off x="273050" y="2993592"/>
            <a:ext cx="3219456" cy="53843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0" name="Pentagon 29"/>
          <p:cNvSpPr/>
          <p:nvPr/>
        </p:nvSpPr>
        <p:spPr>
          <a:xfrm flipH="1">
            <a:off x="6316601" y="10147300"/>
            <a:ext cx="1239899" cy="381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2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3292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980170"/>
              </p:ext>
            </p:extLst>
          </p:nvPr>
        </p:nvGraphicFramePr>
        <p:xfrm>
          <a:off x="120650" y="2679700"/>
          <a:ext cx="2366433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811">
                  <a:extLst>
                    <a:ext uri="{9D8B030D-6E8A-4147-A177-3AD203B41FA5}">
                      <a16:colId xmlns:a16="http://schemas.microsoft.com/office/drawing/2014/main" val="2730413270"/>
                    </a:ext>
                  </a:extLst>
                </a:gridCol>
                <a:gridCol w="788811">
                  <a:extLst>
                    <a:ext uri="{9D8B030D-6E8A-4147-A177-3AD203B41FA5}">
                      <a16:colId xmlns:a16="http://schemas.microsoft.com/office/drawing/2014/main" val="2714643689"/>
                    </a:ext>
                  </a:extLst>
                </a:gridCol>
                <a:gridCol w="788811">
                  <a:extLst>
                    <a:ext uri="{9D8B030D-6E8A-4147-A177-3AD203B41FA5}">
                      <a16:colId xmlns:a16="http://schemas.microsoft.com/office/drawing/2014/main" val="64388199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TW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6243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7046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B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47907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24875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46043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92586"/>
                  </a:ext>
                </a:extLst>
              </a:tr>
            </a:tbl>
          </a:graphicData>
        </a:graphic>
      </p:graphicFrame>
      <p:sp>
        <p:nvSpPr>
          <p:cNvPr id="5" name="object 2"/>
          <p:cNvSpPr txBox="1">
            <a:spLocks/>
          </p:cNvSpPr>
          <p:nvPr/>
        </p:nvSpPr>
        <p:spPr>
          <a:xfrm>
            <a:off x="2635250" y="2697088"/>
            <a:ext cx="4876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600" spc="-80" dirty="0" smtClean="0"/>
              <a:t>FC</a:t>
            </a:r>
            <a:r>
              <a:rPr lang="en-US" sz="3600" spc="-90" dirty="0" smtClean="0"/>
              <a:t>F</a:t>
            </a:r>
            <a:r>
              <a:rPr lang="en-US" sz="3600" spc="-670" dirty="0" smtClean="0"/>
              <a:t>S</a:t>
            </a:r>
            <a:r>
              <a:rPr lang="en-US" sz="3600" spc="-260" dirty="0" smtClean="0"/>
              <a:t>  </a:t>
            </a:r>
            <a:r>
              <a:rPr lang="en-US" sz="3600" spc="-360" dirty="0" smtClean="0"/>
              <a:t>(Fir</a:t>
            </a:r>
            <a:r>
              <a:rPr lang="en-US" sz="3600" spc="-440" dirty="0" smtClean="0"/>
              <a:t>s</a:t>
            </a:r>
            <a:r>
              <a:rPr lang="en-US" sz="3600" spc="-200" dirty="0" smtClean="0"/>
              <a:t>t</a:t>
            </a:r>
            <a:r>
              <a:rPr lang="en-US" sz="3600" spc="-250" dirty="0" smtClean="0"/>
              <a:t> </a:t>
            </a:r>
            <a:r>
              <a:rPr lang="en-US" sz="3600" spc="130" dirty="0" smtClean="0"/>
              <a:t>Co</a:t>
            </a:r>
            <a:r>
              <a:rPr lang="en-US" sz="3600" spc="180" dirty="0" smtClean="0"/>
              <a:t>m</a:t>
            </a:r>
            <a:r>
              <a:rPr lang="en-US" sz="3600" spc="195" dirty="0" smtClean="0"/>
              <a:t>e</a:t>
            </a:r>
            <a:r>
              <a:rPr lang="en-US" sz="3600" spc="-270" dirty="0" smtClean="0"/>
              <a:t> </a:t>
            </a:r>
            <a:r>
              <a:rPr lang="en-US" sz="3600" spc="-345" dirty="0" smtClean="0"/>
              <a:t>First</a:t>
            </a:r>
            <a:r>
              <a:rPr lang="en-US" sz="3600" spc="-245" dirty="0" smtClean="0"/>
              <a:t> </a:t>
            </a:r>
            <a:r>
              <a:rPr lang="en-US" sz="3600" spc="-355" dirty="0" smtClean="0"/>
              <a:t>Se</a:t>
            </a:r>
            <a:r>
              <a:rPr lang="en-US" sz="3600" spc="-250" dirty="0" smtClean="0"/>
              <a:t>r</a:t>
            </a:r>
            <a:r>
              <a:rPr lang="en-US" sz="3600" spc="-10" dirty="0" smtClean="0"/>
              <a:t>ved</a:t>
            </a:r>
            <a:r>
              <a:rPr lang="en-US" sz="3600" spc="-5" dirty="0" smtClean="0"/>
              <a:t>)</a:t>
            </a:r>
            <a:endParaRPr lang="en-US" sz="3600" spc="-280" dirty="0"/>
          </a:p>
        </p:txBody>
      </p:sp>
      <p:sp>
        <p:nvSpPr>
          <p:cNvPr id="7" name="TextBox 6"/>
          <p:cNvSpPr txBox="1"/>
          <p:nvPr/>
        </p:nvSpPr>
        <p:spPr>
          <a:xfrm>
            <a:off x="2635250" y="3894165"/>
            <a:ext cx="2180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Tm	 = 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635250" y="4493643"/>
            <a:ext cx="1360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/>
              <a:t>Twm</a:t>
            </a:r>
            <a:r>
              <a:rPr lang="en-US" sz="2800" b="1" dirty="0" smtClean="0"/>
              <a:t>	 = </a:t>
            </a:r>
            <a:endParaRPr lang="en-US" sz="2800" b="1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863850" y="3441700"/>
            <a:ext cx="4191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273050" y="5575300"/>
            <a:ext cx="6781800" cy="1066800"/>
            <a:chOff x="273050" y="5575300"/>
            <a:chExt cx="6781800" cy="10668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273050" y="5575300"/>
              <a:ext cx="0" cy="1066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64658" y="5575300"/>
              <a:ext cx="0" cy="1066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1456266" y="5575300"/>
              <a:ext cx="0" cy="1066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73050" y="6642100"/>
              <a:ext cx="67818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/>
          <p:cNvCxnSpPr/>
          <p:nvPr/>
        </p:nvCxnSpPr>
        <p:spPr>
          <a:xfrm>
            <a:off x="2327853" y="5575300"/>
            <a:ext cx="1981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711450" y="5845464"/>
            <a:ext cx="1981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834655" y="6261100"/>
            <a:ext cx="1981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759450" y="5151582"/>
            <a:ext cx="0" cy="719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302250" y="5215659"/>
            <a:ext cx="0" cy="719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683250" y="5016863"/>
            <a:ext cx="0" cy="719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82794"/>
              </p:ext>
            </p:extLst>
          </p:nvPr>
        </p:nvGraphicFramePr>
        <p:xfrm>
          <a:off x="-5297235" y="856952"/>
          <a:ext cx="5013157" cy="32988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8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6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Program</a:t>
                      </a:r>
                      <a:r>
                        <a:rPr sz="2000" spc="-1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14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Time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0B4E6"/>
                    </a:solidFill>
                  </a:tcPr>
                </a:tc>
                <a:tc>
                  <a:txBody>
                    <a:bodyPr/>
                    <a:lstStyle/>
                    <a:p>
                      <a:pPr marL="857250" marR="147320" indent="-7029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Processi</a:t>
                      </a:r>
                      <a:r>
                        <a:rPr sz="2000" spc="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g</a:t>
                      </a:r>
                      <a:r>
                        <a:rPr sz="2000" spc="-7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Time  </a:t>
                      </a:r>
                      <a:r>
                        <a:rPr sz="2000" spc="-3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(Menit)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0B4E6"/>
                    </a:solidFill>
                  </a:tcPr>
                </a:tc>
                <a:tc>
                  <a:txBody>
                    <a:bodyPr/>
                    <a:lstStyle/>
                    <a:p>
                      <a:pPr marL="118110" marR="110489" indent="4102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20" dirty="0" smtClean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3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(Waktu</a:t>
                      </a:r>
                      <a:r>
                        <a:rPr sz="2000" spc="-13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5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Kedatangan)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0B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A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70" dirty="0">
                          <a:latin typeface="Microsoft Sans Serif"/>
                          <a:cs typeface="Microsoft Sans Serif"/>
                        </a:rPr>
                        <a:t>30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40" dirty="0">
                          <a:latin typeface="Microsoft Sans Serif"/>
                          <a:cs typeface="Microsoft Sans Serif"/>
                        </a:rPr>
                        <a:t>Pada</a:t>
                      </a:r>
                      <a:r>
                        <a:rPr sz="20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70" dirty="0">
                          <a:latin typeface="Microsoft Sans Serif"/>
                          <a:cs typeface="Microsoft Sans Serif"/>
                        </a:rPr>
                        <a:t>waktu</a:t>
                      </a:r>
                      <a:r>
                        <a:rPr sz="20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13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B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260" dirty="0">
                          <a:latin typeface="Microsoft Sans Serif"/>
                          <a:cs typeface="Microsoft Sans Serif"/>
                        </a:rPr>
                        <a:t>55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Sete</a:t>
                      </a:r>
                      <a:r>
                        <a:rPr sz="2000" spc="5" dirty="0"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2000" spc="-5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h</a:t>
                      </a:r>
                      <a:r>
                        <a:rPr sz="20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15</a:t>
                      </a:r>
                      <a:r>
                        <a:rPr sz="20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me</a:t>
                      </a:r>
                      <a:r>
                        <a:rPr sz="2000" spc="10" dirty="0"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2000" spc="-5" dirty="0">
                          <a:latin typeface="Microsoft Sans Serif"/>
                          <a:cs typeface="Microsoft Sans Serif"/>
                        </a:rPr>
                        <a:t>it</a:t>
                      </a:r>
                      <a:endParaRPr sz="2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C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Sete</a:t>
                      </a:r>
                      <a:r>
                        <a:rPr sz="2000" spc="5" dirty="0"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2000" spc="-5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h</a:t>
                      </a:r>
                      <a:r>
                        <a:rPr sz="20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10</a:t>
                      </a:r>
                      <a:r>
                        <a:rPr sz="20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men</a:t>
                      </a:r>
                      <a:r>
                        <a:rPr sz="2000" spc="10" dirty="0"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t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8850" y="1069381"/>
            <a:ext cx="8529828" cy="3991355"/>
          </a:xfrm>
          <a:prstGeom prst="rect">
            <a:avLst/>
          </a:prstGeom>
        </p:spPr>
      </p:pic>
      <p:graphicFrame>
        <p:nvGraphicFramePr>
          <p:cNvPr id="3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602273"/>
              </p:ext>
            </p:extLst>
          </p:nvPr>
        </p:nvGraphicFramePr>
        <p:xfrm>
          <a:off x="-4603749" y="5588000"/>
          <a:ext cx="4457068" cy="3962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Program Time</a:t>
                      </a: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0B4E6"/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147320" indent="-702945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Processing Time  (Menit)</a:t>
                      </a: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0B4E6"/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107950" indent="409575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 smtClean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(</a:t>
                      </a:r>
                      <a:r>
                        <a:rPr sz="2000" kern="1200" dirty="0" err="1" smtClean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Waktu</a:t>
                      </a:r>
                      <a:r>
                        <a:rPr sz="2000" kern="1200" dirty="0" smtClean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 </a:t>
                      </a: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Kedatangan)</a:t>
                      </a: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0B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A</a:t>
                      </a:r>
                      <a:endParaRPr sz="2000" kern="1200">
                        <a:solidFill>
                          <a:schemeClr val="tx1"/>
                        </a:solidFill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Pada waktu 0</a:t>
                      </a:r>
                      <a:endParaRPr sz="2000" kern="1200">
                        <a:solidFill>
                          <a:schemeClr val="tx1"/>
                        </a:solidFill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B</a:t>
                      </a:r>
                      <a:endParaRPr sz="2000" kern="1200">
                        <a:solidFill>
                          <a:schemeClr val="tx1"/>
                        </a:solidFill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2</a:t>
                      </a:r>
                      <a:endParaRPr sz="2000" kern="1200">
                        <a:solidFill>
                          <a:schemeClr val="tx1"/>
                        </a:solidFill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Setelah 1 menit</a:t>
                      </a: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C</a:t>
                      </a:r>
                      <a:endParaRPr sz="2000" kern="1200">
                        <a:solidFill>
                          <a:schemeClr val="tx1"/>
                        </a:solidFill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6</a:t>
                      </a:r>
                      <a:endParaRPr sz="2000" kern="1200">
                        <a:solidFill>
                          <a:schemeClr val="tx1"/>
                        </a:solidFill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Setelah 2 menit</a:t>
                      </a: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D</a:t>
                      </a:r>
                      <a:endParaRPr sz="2000" kern="1200">
                        <a:solidFill>
                          <a:schemeClr val="tx1"/>
                        </a:solidFill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8</a:t>
                      </a:r>
                      <a:endParaRPr sz="2000" kern="1200">
                        <a:solidFill>
                          <a:schemeClr val="tx1"/>
                        </a:solidFill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Setelah 2 menit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81"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E</a:t>
                      </a:r>
                      <a:endParaRPr sz="2000" kern="1200">
                        <a:solidFill>
                          <a:schemeClr val="tx1"/>
                        </a:solidFill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3</a:t>
                      </a:r>
                      <a:endParaRPr sz="2000" kern="1200">
                        <a:solidFill>
                          <a:schemeClr val="tx1"/>
                        </a:solidFill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Microsoft Sans Serif"/>
                          <a:ea typeface="+mn-ea"/>
                          <a:cs typeface="Microsoft Sans Serif"/>
                        </a:rPr>
                        <a:t>Setelah 5 menit</a:t>
                      </a: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7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23599" y="482494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DASHBOARD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sp>
        <p:nvSpPr>
          <p:cNvPr id="18" name="TextBox 11"/>
          <p:cNvSpPr txBox="1"/>
          <p:nvPr/>
        </p:nvSpPr>
        <p:spPr>
          <a:xfrm>
            <a:off x="8614651" y="3029070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LOGIN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sp>
        <p:nvSpPr>
          <p:cNvPr id="30" name="Pentagon 29"/>
          <p:cNvSpPr/>
          <p:nvPr/>
        </p:nvSpPr>
        <p:spPr>
          <a:xfrm flipH="1">
            <a:off x="6316601" y="10147300"/>
            <a:ext cx="1239899" cy="381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3</a:t>
            </a:r>
            <a:endParaRPr lang="en-US" sz="2800" b="1" dirty="0"/>
          </a:p>
        </p:txBody>
      </p:sp>
      <p:grpSp>
        <p:nvGrpSpPr>
          <p:cNvPr id="6" name="Group 5"/>
          <p:cNvGrpSpPr/>
          <p:nvPr/>
        </p:nvGrpSpPr>
        <p:grpSpPr>
          <a:xfrm>
            <a:off x="212725" y="2908300"/>
            <a:ext cx="7131050" cy="5670430"/>
            <a:chOff x="107950" y="1916632"/>
            <a:chExt cx="7327900" cy="603745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" name="Group 3"/>
            <p:cNvGrpSpPr/>
            <p:nvPr/>
          </p:nvGrpSpPr>
          <p:grpSpPr>
            <a:xfrm>
              <a:off x="107950" y="2603500"/>
              <a:ext cx="7327900" cy="5350586"/>
              <a:chOff x="107950" y="1845354"/>
              <a:chExt cx="7327900" cy="5350586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9" name="Group 18"/>
              <p:cNvGrpSpPr/>
              <p:nvPr/>
            </p:nvGrpSpPr>
            <p:grpSpPr>
              <a:xfrm>
                <a:off x="107950" y="1845354"/>
                <a:ext cx="7327900" cy="4796745"/>
                <a:chOff x="3235247" y="694892"/>
                <a:chExt cx="7230604" cy="3560311"/>
              </a:xfrm>
            </p:grpSpPr>
            <p:pic>
              <p:nvPicPr>
                <p:cNvPr id="20" name="Picture 19"/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81182"/>
                <a:stretch/>
              </p:blipFill>
              <p:spPr>
                <a:xfrm>
                  <a:off x="3235247" y="694892"/>
                  <a:ext cx="7230604" cy="672341"/>
                </a:xfrm>
                <a:prstGeom prst="rect">
                  <a:avLst/>
                </a:prstGeom>
              </p:spPr>
            </p:pic>
            <p:pic>
              <p:nvPicPr>
                <p:cNvPr id="22" name="Picture 21"/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66722"/>
                <a:stretch/>
              </p:blipFill>
              <p:spPr>
                <a:xfrm>
                  <a:off x="3235247" y="3066274"/>
                  <a:ext cx="7230604" cy="1188929"/>
                </a:xfrm>
                <a:prstGeom prst="rect">
                  <a:avLst/>
                </a:prstGeom>
              </p:spPr>
            </p:pic>
            <p:pic>
              <p:nvPicPr>
                <p:cNvPr id="23" name="Picture 22"/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18703" b="32628"/>
                <a:stretch/>
              </p:blipFill>
              <p:spPr>
                <a:xfrm>
                  <a:off x="3235247" y="1351620"/>
                  <a:ext cx="7230604" cy="1738789"/>
                </a:xfrm>
                <a:prstGeom prst="rect">
                  <a:avLst/>
                </a:prstGeom>
              </p:spPr>
            </p:pic>
          </p:grpSp>
          <p:pic>
            <p:nvPicPr>
              <p:cNvPr id="3" name="Picture 2"/>
              <p:cNvPicPr>
                <a:picLocks noChangeAspect="1"/>
              </p:cNvPicPr>
              <p:nvPr/>
            </p:nvPicPr>
            <p:blipFill rotWithShape="1">
              <a:blip r:embed="rId5"/>
              <a:srcRect t="34778"/>
              <a:stretch/>
            </p:blipFill>
            <p:spPr>
              <a:xfrm>
                <a:off x="107950" y="6624319"/>
                <a:ext cx="7327900" cy="571621"/>
              </a:xfrm>
              <a:prstGeom prst="rect">
                <a:avLst/>
              </a:prstGeom>
            </p:spPr>
          </p:pic>
        </p:grpSp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6"/>
            <a:srcRect r="55095"/>
            <a:stretch/>
          </p:blipFill>
          <p:spPr>
            <a:xfrm>
              <a:off x="107950" y="1916632"/>
              <a:ext cx="7327900" cy="704948"/>
            </a:xfrm>
            <a:prstGeom prst="rect">
              <a:avLst/>
            </a:prstGeom>
          </p:spPr>
        </p:pic>
      </p:grpSp>
      <p:grpSp>
        <p:nvGrpSpPr>
          <p:cNvPr id="29" name="Group 28"/>
          <p:cNvGrpSpPr/>
          <p:nvPr/>
        </p:nvGrpSpPr>
        <p:grpSpPr>
          <a:xfrm>
            <a:off x="154925" y="1802794"/>
            <a:ext cx="7188849" cy="876906"/>
            <a:chOff x="10368253" y="4122806"/>
            <a:chExt cx="5310915" cy="2824094"/>
          </a:xfrm>
        </p:grpSpPr>
        <p:grpSp>
          <p:nvGrpSpPr>
            <p:cNvPr id="31" name="Group 4"/>
            <p:cNvGrpSpPr/>
            <p:nvPr/>
          </p:nvGrpSpPr>
          <p:grpSpPr>
            <a:xfrm>
              <a:off x="10368253" y="4122806"/>
              <a:ext cx="5310915" cy="2824094"/>
              <a:chOff x="0" y="-28575"/>
              <a:chExt cx="1903312" cy="2181427"/>
            </a:xfrm>
          </p:grpSpPr>
          <p:sp>
            <p:nvSpPr>
              <p:cNvPr id="33" name="Freeform 5"/>
              <p:cNvSpPr/>
              <p:nvPr/>
            </p:nvSpPr>
            <p:spPr>
              <a:xfrm>
                <a:off x="0" y="0"/>
                <a:ext cx="1903312" cy="2152852"/>
              </a:xfrm>
              <a:custGeom>
                <a:avLst/>
                <a:gdLst/>
                <a:ahLst/>
                <a:cxnLst/>
                <a:rect l="l" t="t" r="r" b="b"/>
                <a:pathLst>
                  <a:path w="1903312" h="2152852">
                    <a:moveTo>
                      <a:pt x="55394" y="0"/>
                    </a:moveTo>
                    <a:lnTo>
                      <a:pt x="1847918" y="0"/>
                    </a:lnTo>
                    <a:cubicBezTo>
                      <a:pt x="1878511" y="0"/>
                      <a:pt x="1903312" y="24801"/>
                      <a:pt x="1903312" y="55394"/>
                    </a:cubicBezTo>
                    <a:lnTo>
                      <a:pt x="1903312" y="2097458"/>
                    </a:lnTo>
                    <a:cubicBezTo>
                      <a:pt x="1903312" y="2128051"/>
                      <a:pt x="1878511" y="2152852"/>
                      <a:pt x="1847918" y="2152852"/>
                    </a:cubicBezTo>
                    <a:lnTo>
                      <a:pt x="55394" y="2152852"/>
                    </a:lnTo>
                    <a:cubicBezTo>
                      <a:pt x="24801" y="2152852"/>
                      <a:pt x="0" y="2128051"/>
                      <a:pt x="0" y="2097458"/>
                    </a:cubicBezTo>
                    <a:lnTo>
                      <a:pt x="0" y="55394"/>
                    </a:lnTo>
                    <a:cubicBezTo>
                      <a:pt x="0" y="24801"/>
                      <a:pt x="24801" y="0"/>
                      <a:pt x="553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7388AB"/>
                </a:solidFill>
                <a:prstDash val="solid"/>
                <a:round/>
              </a:ln>
            </p:spPr>
          </p:sp>
          <p:sp>
            <p:nvSpPr>
              <p:cNvPr id="34" name="TextBox 6"/>
              <p:cNvSpPr txBox="1"/>
              <p:nvPr/>
            </p:nvSpPr>
            <p:spPr>
              <a:xfrm>
                <a:off x="0" y="-28575"/>
                <a:ext cx="1903312" cy="2181427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10368253" y="4374570"/>
              <a:ext cx="5308017" cy="2081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Dashboard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dapat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di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tampilkan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berdasarkan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LINE, DATE,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SHIFT</a:t>
              </a:r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7" name="Rectangular Callout 6"/>
          <p:cNvSpPr/>
          <p:nvPr/>
        </p:nvSpPr>
        <p:spPr>
          <a:xfrm>
            <a:off x="212725" y="2832100"/>
            <a:ext cx="4327525" cy="661629"/>
          </a:xfrm>
          <a:prstGeom prst="wedgeRectCallout">
            <a:avLst>
              <a:gd name="adj1" fmla="val 12581"/>
              <a:gd name="adj2" fmla="val -107479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154925" y="8851900"/>
            <a:ext cx="7188849" cy="1246523"/>
            <a:chOff x="10368253" y="4122806"/>
            <a:chExt cx="5310915" cy="2824094"/>
          </a:xfrm>
        </p:grpSpPr>
        <p:grpSp>
          <p:nvGrpSpPr>
            <p:cNvPr id="48" name="Group 4"/>
            <p:cNvGrpSpPr/>
            <p:nvPr/>
          </p:nvGrpSpPr>
          <p:grpSpPr>
            <a:xfrm>
              <a:off x="10368253" y="4122806"/>
              <a:ext cx="5310915" cy="2824094"/>
              <a:chOff x="0" y="-28575"/>
              <a:chExt cx="1903312" cy="2181427"/>
            </a:xfrm>
          </p:grpSpPr>
          <p:sp>
            <p:nvSpPr>
              <p:cNvPr id="50" name="Freeform 5"/>
              <p:cNvSpPr/>
              <p:nvPr/>
            </p:nvSpPr>
            <p:spPr>
              <a:xfrm>
                <a:off x="0" y="1"/>
                <a:ext cx="1903312" cy="1949462"/>
              </a:xfrm>
              <a:custGeom>
                <a:avLst/>
                <a:gdLst/>
                <a:ahLst/>
                <a:cxnLst/>
                <a:rect l="l" t="t" r="r" b="b"/>
                <a:pathLst>
                  <a:path w="1903312" h="2152852">
                    <a:moveTo>
                      <a:pt x="55394" y="0"/>
                    </a:moveTo>
                    <a:lnTo>
                      <a:pt x="1847918" y="0"/>
                    </a:lnTo>
                    <a:cubicBezTo>
                      <a:pt x="1878511" y="0"/>
                      <a:pt x="1903312" y="24801"/>
                      <a:pt x="1903312" y="55394"/>
                    </a:cubicBezTo>
                    <a:lnTo>
                      <a:pt x="1903312" y="2097458"/>
                    </a:lnTo>
                    <a:cubicBezTo>
                      <a:pt x="1903312" y="2128051"/>
                      <a:pt x="1878511" y="2152852"/>
                      <a:pt x="1847918" y="2152852"/>
                    </a:cubicBezTo>
                    <a:lnTo>
                      <a:pt x="55394" y="2152852"/>
                    </a:lnTo>
                    <a:cubicBezTo>
                      <a:pt x="24801" y="2152852"/>
                      <a:pt x="0" y="2128051"/>
                      <a:pt x="0" y="2097458"/>
                    </a:cubicBezTo>
                    <a:lnTo>
                      <a:pt x="0" y="55394"/>
                    </a:lnTo>
                    <a:cubicBezTo>
                      <a:pt x="0" y="24801"/>
                      <a:pt x="24801" y="0"/>
                      <a:pt x="553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7388AB"/>
                </a:solidFill>
                <a:prstDash val="solid"/>
                <a:round/>
              </a:ln>
            </p:spPr>
          </p:sp>
          <p:sp>
            <p:nvSpPr>
              <p:cNvPr id="51" name="TextBox 6"/>
              <p:cNvSpPr txBox="1"/>
              <p:nvPr/>
            </p:nvSpPr>
            <p:spPr>
              <a:xfrm>
                <a:off x="0" y="-28575"/>
                <a:ext cx="1903312" cy="2181427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10368253" y="4374571"/>
              <a:ext cx="5308017" cy="2091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Pada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Dashboard,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ada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beberapa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data yang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harus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di input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secara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manual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pada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tiap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jam </a:t>
              </a:r>
              <a:r>
                <a:rPr lang="en-US" b="1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nya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,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ditandai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dengan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Angka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yang </a:t>
              </a:r>
              <a:r>
                <a:rPr lang="en-US" b="1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berwarna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BIRU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kolom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background </a:t>
              </a:r>
              <a:r>
                <a:rPr lang="en-US" b="1" dirty="0" err="1" smtClean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merah</a:t>
              </a:r>
              <a:r>
                <a:rPr lang="en-US" b="1" dirty="0" smtClean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err="1" smtClean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muda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.</a:t>
              </a:r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52" name="Rectangular Callout 51"/>
          <p:cNvSpPr/>
          <p:nvPr/>
        </p:nvSpPr>
        <p:spPr>
          <a:xfrm>
            <a:off x="212725" y="8023904"/>
            <a:ext cx="7127126" cy="661629"/>
          </a:xfrm>
          <a:prstGeom prst="wedgeRectCallout">
            <a:avLst>
              <a:gd name="adj1" fmla="val 3315"/>
              <a:gd name="adj2" fmla="val 86391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23599" y="482494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DASHBOARD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sp>
        <p:nvSpPr>
          <p:cNvPr id="18" name="TextBox 11"/>
          <p:cNvSpPr txBox="1"/>
          <p:nvPr/>
        </p:nvSpPr>
        <p:spPr>
          <a:xfrm>
            <a:off x="8614651" y="3029070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LOGIN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sp>
        <p:nvSpPr>
          <p:cNvPr id="30" name="Pentagon 29"/>
          <p:cNvSpPr/>
          <p:nvPr/>
        </p:nvSpPr>
        <p:spPr>
          <a:xfrm flipH="1">
            <a:off x="6316601" y="10147300"/>
            <a:ext cx="1239899" cy="381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4</a:t>
            </a:r>
            <a:endParaRPr lang="en-US" sz="280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b="81182"/>
          <a:stretch/>
        </p:blipFill>
        <p:spPr>
          <a:xfrm>
            <a:off x="178618" y="1771226"/>
            <a:ext cx="7230604" cy="984673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205246" y="2755900"/>
            <a:ext cx="7188849" cy="7391400"/>
            <a:chOff x="10368253" y="4122806"/>
            <a:chExt cx="5310915" cy="2824094"/>
          </a:xfrm>
        </p:grpSpPr>
        <p:grpSp>
          <p:nvGrpSpPr>
            <p:cNvPr id="19" name="Group 4"/>
            <p:cNvGrpSpPr/>
            <p:nvPr/>
          </p:nvGrpSpPr>
          <p:grpSpPr>
            <a:xfrm>
              <a:off x="10368253" y="4122806"/>
              <a:ext cx="5310915" cy="2824094"/>
              <a:chOff x="0" y="-28575"/>
              <a:chExt cx="1903312" cy="2181427"/>
            </a:xfrm>
          </p:grpSpPr>
          <p:sp>
            <p:nvSpPr>
              <p:cNvPr id="21" name="Freeform 5"/>
              <p:cNvSpPr/>
              <p:nvPr/>
            </p:nvSpPr>
            <p:spPr>
              <a:xfrm>
                <a:off x="0" y="1"/>
                <a:ext cx="1903312" cy="2087645"/>
              </a:xfrm>
              <a:custGeom>
                <a:avLst/>
                <a:gdLst/>
                <a:ahLst/>
                <a:cxnLst/>
                <a:rect l="l" t="t" r="r" b="b"/>
                <a:pathLst>
                  <a:path w="1903312" h="2152852">
                    <a:moveTo>
                      <a:pt x="55394" y="0"/>
                    </a:moveTo>
                    <a:lnTo>
                      <a:pt x="1847918" y="0"/>
                    </a:lnTo>
                    <a:cubicBezTo>
                      <a:pt x="1878511" y="0"/>
                      <a:pt x="1903312" y="24801"/>
                      <a:pt x="1903312" y="55394"/>
                    </a:cubicBezTo>
                    <a:lnTo>
                      <a:pt x="1903312" y="2097458"/>
                    </a:lnTo>
                    <a:cubicBezTo>
                      <a:pt x="1903312" y="2128051"/>
                      <a:pt x="1878511" y="2152852"/>
                      <a:pt x="1847918" y="2152852"/>
                    </a:cubicBezTo>
                    <a:lnTo>
                      <a:pt x="55394" y="2152852"/>
                    </a:lnTo>
                    <a:cubicBezTo>
                      <a:pt x="24801" y="2152852"/>
                      <a:pt x="0" y="2128051"/>
                      <a:pt x="0" y="2097458"/>
                    </a:cubicBezTo>
                    <a:lnTo>
                      <a:pt x="0" y="55394"/>
                    </a:lnTo>
                    <a:cubicBezTo>
                      <a:pt x="0" y="24801"/>
                      <a:pt x="24801" y="0"/>
                      <a:pt x="553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7388AB"/>
                </a:solidFill>
                <a:prstDash val="solid"/>
                <a:round/>
              </a:ln>
            </p:spPr>
          </p:sp>
          <p:sp>
            <p:nvSpPr>
              <p:cNvPr id="22" name="TextBox 6"/>
              <p:cNvSpPr txBox="1"/>
              <p:nvPr/>
            </p:nvSpPr>
            <p:spPr>
              <a:xfrm>
                <a:off x="0" y="-28575"/>
                <a:ext cx="1903312" cy="2181427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10368253" y="4171666"/>
              <a:ext cx="5308017" cy="2309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INPUT DATA 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SEBELUM PRODUKSI,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1. Input Material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2. Input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Barang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Sisa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3. Input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Barang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Repair /  Re-Running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NOTE :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Semua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penginputan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berdasarkan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Part Model,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yang </a:t>
              </a:r>
              <a:r>
                <a:rPr lang="en-US" b="1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belum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di input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kolom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akan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berwarna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merah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muda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Cara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penginputan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dengan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meng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klik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kolom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yang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akan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di input :</a:t>
              </a: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Lalu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isi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data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qty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Material/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Hassu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/Repair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klik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Send.</a:t>
              </a:r>
              <a:endParaRPr lang="en-US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/>
          <a:srcRect l="4551" r="4551" b="5116"/>
          <a:stretch/>
        </p:blipFill>
        <p:spPr>
          <a:xfrm>
            <a:off x="3244850" y="6806544"/>
            <a:ext cx="3974282" cy="1568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/>
          <a:srcRect l="29958" t="4590" r="38679" b="82788"/>
          <a:stretch/>
        </p:blipFill>
        <p:spPr>
          <a:xfrm>
            <a:off x="501650" y="8860830"/>
            <a:ext cx="3708399" cy="838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/>
          <p:cNvSpPr txBox="1"/>
          <p:nvPr/>
        </p:nvSpPr>
        <p:spPr>
          <a:xfrm>
            <a:off x="4208851" y="8775700"/>
            <a:ext cx="3181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Pastikan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mendapatkan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keterangan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berhasil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menyimpan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Data. </a:t>
            </a:r>
            <a:endParaRPr lang="en-US" dirty="0">
              <a:solidFill>
                <a:srgbClr val="7388AB"/>
              </a:solidFill>
              <a:latin typeface="Consolas" panose="020B0609020204030204" pitchFamily="49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4"/>
          <a:srcRect b="81182"/>
          <a:stretch/>
        </p:blipFill>
        <p:spPr>
          <a:xfrm>
            <a:off x="304800" y="5707378"/>
            <a:ext cx="6914332" cy="941603"/>
          </a:xfrm>
          <a:prstGeom prst="rect">
            <a:avLst/>
          </a:prstGeom>
        </p:spPr>
      </p:pic>
      <p:pic>
        <p:nvPicPr>
          <p:cNvPr id="1026" name="Picture 2" descr="https://cdn-icons-png.flaticon.com/512/2767/2767163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7608" y="5764121"/>
            <a:ext cx="1275633" cy="127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215929" y="7023100"/>
            <a:ext cx="3181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Setelah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nya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akan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keluar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modal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sesuai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data yang di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isi</a:t>
            </a:r>
            <a:r>
              <a:rPr lang="en-US" dirty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:</a:t>
            </a:r>
            <a:b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(Material/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Hassu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/Repair)</a:t>
            </a:r>
            <a:endParaRPr lang="en-US" dirty="0">
              <a:solidFill>
                <a:srgbClr val="7388A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15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23599" y="482494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DASHBOARD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sp>
        <p:nvSpPr>
          <p:cNvPr id="30" name="Pentagon 29"/>
          <p:cNvSpPr/>
          <p:nvPr/>
        </p:nvSpPr>
        <p:spPr>
          <a:xfrm flipH="1">
            <a:off x="6316601" y="10147300"/>
            <a:ext cx="1239899" cy="381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5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05245" y="3160056"/>
            <a:ext cx="7266129" cy="6987244"/>
            <a:chOff x="10368252" y="4122806"/>
            <a:chExt cx="5368007" cy="2824094"/>
          </a:xfrm>
        </p:grpSpPr>
        <p:grpSp>
          <p:nvGrpSpPr>
            <p:cNvPr id="19" name="Group 4"/>
            <p:cNvGrpSpPr/>
            <p:nvPr/>
          </p:nvGrpSpPr>
          <p:grpSpPr>
            <a:xfrm>
              <a:off x="10368253" y="4122806"/>
              <a:ext cx="5310915" cy="2824094"/>
              <a:chOff x="0" y="-28575"/>
              <a:chExt cx="1903312" cy="2181427"/>
            </a:xfrm>
          </p:grpSpPr>
          <p:sp>
            <p:nvSpPr>
              <p:cNvPr id="21" name="Freeform 5"/>
              <p:cNvSpPr/>
              <p:nvPr/>
            </p:nvSpPr>
            <p:spPr>
              <a:xfrm>
                <a:off x="0" y="1"/>
                <a:ext cx="1903312" cy="2087645"/>
              </a:xfrm>
              <a:custGeom>
                <a:avLst/>
                <a:gdLst/>
                <a:ahLst/>
                <a:cxnLst/>
                <a:rect l="l" t="t" r="r" b="b"/>
                <a:pathLst>
                  <a:path w="1903312" h="2152852">
                    <a:moveTo>
                      <a:pt x="55394" y="0"/>
                    </a:moveTo>
                    <a:lnTo>
                      <a:pt x="1847918" y="0"/>
                    </a:lnTo>
                    <a:cubicBezTo>
                      <a:pt x="1878511" y="0"/>
                      <a:pt x="1903312" y="24801"/>
                      <a:pt x="1903312" y="55394"/>
                    </a:cubicBezTo>
                    <a:lnTo>
                      <a:pt x="1903312" y="2097458"/>
                    </a:lnTo>
                    <a:cubicBezTo>
                      <a:pt x="1903312" y="2128051"/>
                      <a:pt x="1878511" y="2152852"/>
                      <a:pt x="1847918" y="2152852"/>
                    </a:cubicBezTo>
                    <a:lnTo>
                      <a:pt x="55394" y="2152852"/>
                    </a:lnTo>
                    <a:cubicBezTo>
                      <a:pt x="24801" y="2152852"/>
                      <a:pt x="0" y="2128051"/>
                      <a:pt x="0" y="2097458"/>
                    </a:cubicBezTo>
                    <a:lnTo>
                      <a:pt x="0" y="55394"/>
                    </a:lnTo>
                    <a:cubicBezTo>
                      <a:pt x="0" y="24801"/>
                      <a:pt x="24801" y="0"/>
                      <a:pt x="553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7388AB"/>
                </a:solidFill>
                <a:prstDash val="solid"/>
                <a:round/>
              </a:ln>
            </p:spPr>
          </p:sp>
          <p:sp>
            <p:nvSpPr>
              <p:cNvPr id="22" name="TextBox 6"/>
              <p:cNvSpPr txBox="1"/>
              <p:nvPr/>
            </p:nvSpPr>
            <p:spPr>
              <a:xfrm>
                <a:off x="0" y="-28575"/>
                <a:ext cx="1903312" cy="2181427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10368252" y="4171666"/>
              <a:ext cx="5368007" cy="2276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INPUT DATA 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SAAT PRODUKSI,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1. Input Working Time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2. Input Loss Time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NOTE :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Yang </a:t>
              </a:r>
              <a:r>
                <a:rPr lang="en-US" b="1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belum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di input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kolom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akan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berwarna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merah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muda</a:t>
              </a:r>
              <a:endParaRPr lang="en-US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Cara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penginputan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dengan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meng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klik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kolom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yang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akan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di input :</a:t>
              </a: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Lalu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isi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data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WorkingTime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/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LossTime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klik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Send.</a:t>
              </a:r>
              <a:endParaRPr lang="en-US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29958" t="4590" r="38679" b="82788"/>
          <a:stretch/>
        </p:blipFill>
        <p:spPr>
          <a:xfrm>
            <a:off x="501650" y="8860830"/>
            <a:ext cx="3708399" cy="838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/>
          <p:cNvSpPr txBox="1"/>
          <p:nvPr/>
        </p:nvSpPr>
        <p:spPr>
          <a:xfrm>
            <a:off x="4208851" y="8775700"/>
            <a:ext cx="3181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Pastikan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mendapatkan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keterangan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berhasil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menyimpan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Data. </a:t>
            </a:r>
            <a:endParaRPr lang="en-US" dirty="0">
              <a:solidFill>
                <a:srgbClr val="7388AB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2767" y="7700781"/>
            <a:ext cx="2612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Setelah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nya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akan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keluar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modal.</a:t>
            </a:r>
            <a:endParaRPr lang="en-US" dirty="0">
              <a:solidFill>
                <a:srgbClr val="7388AB"/>
              </a:solidFill>
              <a:latin typeface="Consolas" panose="020B0609020204030204" pitchFamily="49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/>
          <a:srcRect t="18703" b="45808"/>
          <a:stretch/>
        </p:blipFill>
        <p:spPr>
          <a:xfrm>
            <a:off x="205246" y="1848191"/>
            <a:ext cx="7266129" cy="126792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5"/>
          <a:srcRect t="18703" r="67550" b="45808"/>
          <a:stretch/>
        </p:blipFill>
        <p:spPr>
          <a:xfrm>
            <a:off x="321541" y="5651500"/>
            <a:ext cx="2357847" cy="19752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https://cdn-icons-png.flaticon.com/512/2767/2767163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39" y="5701689"/>
            <a:ext cx="1275633" cy="127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2332" y="5499100"/>
            <a:ext cx="4367995" cy="2895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Right Arrow 5"/>
          <p:cNvSpPr/>
          <p:nvPr/>
        </p:nvSpPr>
        <p:spPr>
          <a:xfrm>
            <a:off x="2501060" y="7327827"/>
            <a:ext cx="609600" cy="68580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0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23599" y="482494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DASHBOARD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sp>
        <p:nvSpPr>
          <p:cNvPr id="30" name="Pentagon 29"/>
          <p:cNvSpPr/>
          <p:nvPr/>
        </p:nvSpPr>
        <p:spPr>
          <a:xfrm flipH="1">
            <a:off x="6316601" y="10147300"/>
            <a:ext cx="1239899" cy="381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6</a:t>
            </a:r>
            <a:endParaRPr lang="en-US" sz="2800" b="1" dirty="0"/>
          </a:p>
        </p:txBody>
      </p:sp>
      <p:grpSp>
        <p:nvGrpSpPr>
          <p:cNvPr id="13" name="Group 12"/>
          <p:cNvGrpSpPr/>
          <p:nvPr/>
        </p:nvGrpSpPr>
        <p:grpSpPr>
          <a:xfrm>
            <a:off x="205245" y="3079629"/>
            <a:ext cx="7266129" cy="7067672"/>
            <a:chOff x="10368252" y="4122806"/>
            <a:chExt cx="5368007" cy="2824094"/>
          </a:xfrm>
        </p:grpSpPr>
        <p:grpSp>
          <p:nvGrpSpPr>
            <p:cNvPr id="19" name="Group 4"/>
            <p:cNvGrpSpPr/>
            <p:nvPr/>
          </p:nvGrpSpPr>
          <p:grpSpPr>
            <a:xfrm>
              <a:off x="10368253" y="4122806"/>
              <a:ext cx="5310915" cy="2824094"/>
              <a:chOff x="0" y="-28575"/>
              <a:chExt cx="1903312" cy="2181427"/>
            </a:xfrm>
          </p:grpSpPr>
          <p:sp>
            <p:nvSpPr>
              <p:cNvPr id="21" name="Freeform 5"/>
              <p:cNvSpPr/>
              <p:nvPr/>
            </p:nvSpPr>
            <p:spPr>
              <a:xfrm>
                <a:off x="0" y="1"/>
                <a:ext cx="1903312" cy="2087645"/>
              </a:xfrm>
              <a:custGeom>
                <a:avLst/>
                <a:gdLst/>
                <a:ahLst/>
                <a:cxnLst/>
                <a:rect l="l" t="t" r="r" b="b"/>
                <a:pathLst>
                  <a:path w="1903312" h="2152852">
                    <a:moveTo>
                      <a:pt x="55394" y="0"/>
                    </a:moveTo>
                    <a:lnTo>
                      <a:pt x="1847918" y="0"/>
                    </a:lnTo>
                    <a:cubicBezTo>
                      <a:pt x="1878511" y="0"/>
                      <a:pt x="1903312" y="24801"/>
                      <a:pt x="1903312" y="55394"/>
                    </a:cubicBezTo>
                    <a:lnTo>
                      <a:pt x="1903312" y="2097458"/>
                    </a:lnTo>
                    <a:cubicBezTo>
                      <a:pt x="1903312" y="2128051"/>
                      <a:pt x="1878511" y="2152852"/>
                      <a:pt x="1847918" y="2152852"/>
                    </a:cubicBezTo>
                    <a:lnTo>
                      <a:pt x="55394" y="2152852"/>
                    </a:lnTo>
                    <a:cubicBezTo>
                      <a:pt x="24801" y="2152852"/>
                      <a:pt x="0" y="2128051"/>
                      <a:pt x="0" y="2097458"/>
                    </a:cubicBezTo>
                    <a:lnTo>
                      <a:pt x="0" y="55394"/>
                    </a:lnTo>
                    <a:cubicBezTo>
                      <a:pt x="0" y="24801"/>
                      <a:pt x="24801" y="0"/>
                      <a:pt x="553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7388AB"/>
                </a:solidFill>
                <a:prstDash val="solid"/>
                <a:round/>
              </a:ln>
            </p:spPr>
          </p:sp>
          <p:sp>
            <p:nvSpPr>
              <p:cNvPr id="22" name="TextBox 6"/>
              <p:cNvSpPr txBox="1"/>
              <p:nvPr/>
            </p:nvSpPr>
            <p:spPr>
              <a:xfrm>
                <a:off x="0" y="-28575"/>
                <a:ext cx="1903312" cy="2181427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10368252" y="4171666"/>
              <a:ext cx="5368007" cy="2250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INPUT DATA 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SESUDAH PRODUKSI,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1. WIP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Hassu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2. Defect/NG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Cara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penginputan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dengan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meng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klik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kolom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yang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akan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di input :</a:t>
              </a: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endParaRPr lang="en-US" b="1" dirty="0" smtClean="0">
                <a:solidFill>
                  <a:srgbClr val="7388AB"/>
                </a:solidFill>
                <a:latin typeface="Consolas" panose="020B0609020204030204" pitchFamily="49" charset="0"/>
              </a:endParaRPr>
            </a:p>
            <a:p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Lalu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isi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data WIP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Hassu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/NG/WIP Repair/Sample/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Qty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Pallete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tidak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lengkap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klik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Send.</a:t>
              </a:r>
              <a:endParaRPr lang="en-US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29958" t="4590" r="38679" b="82788"/>
          <a:stretch/>
        </p:blipFill>
        <p:spPr>
          <a:xfrm>
            <a:off x="501650" y="8860830"/>
            <a:ext cx="3708399" cy="838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/>
          <p:cNvSpPr txBox="1"/>
          <p:nvPr/>
        </p:nvSpPr>
        <p:spPr>
          <a:xfrm>
            <a:off x="4208851" y="8775700"/>
            <a:ext cx="3181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Pastikan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mendapatkan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keterangan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berhasil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menyimpan</a:t>
            </a:r>
            <a:r>
              <a:rPr lang="en-US" b="1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Data. </a:t>
            </a:r>
            <a:endParaRPr lang="en-US" dirty="0">
              <a:solidFill>
                <a:srgbClr val="7388AB"/>
              </a:solidFill>
              <a:latin typeface="Consolas" panose="020B0609020204030204" pitchFamily="49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5"/>
          <a:srcRect t="66722"/>
          <a:stretch/>
        </p:blipFill>
        <p:spPr>
          <a:xfrm>
            <a:off x="184368" y="1890700"/>
            <a:ext cx="7230604" cy="11889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1" name="TextBox 30"/>
          <p:cNvSpPr txBox="1"/>
          <p:nvPr/>
        </p:nvSpPr>
        <p:spPr>
          <a:xfrm>
            <a:off x="2256181" y="3428342"/>
            <a:ext cx="533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WIP Repair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PE/QC Sample</a:t>
            </a:r>
            <a:endParaRPr lang="en-US" dirty="0">
              <a:solidFill>
                <a:srgbClr val="7388AB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61979" y="3426454"/>
            <a:ext cx="3254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QTY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Pallete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tidak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Lengkap</a:t>
            </a:r>
            <a:endParaRPr lang="en-US" dirty="0" smtClean="0">
              <a:solidFill>
                <a:srgbClr val="7388AB"/>
              </a:solidFill>
              <a:latin typeface="Consolas" panose="020B0609020204030204" pitchFamily="49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5"/>
          <a:srcRect t="66722" r="61369"/>
          <a:stretch/>
        </p:blipFill>
        <p:spPr>
          <a:xfrm>
            <a:off x="304800" y="5059895"/>
            <a:ext cx="3168635" cy="11889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https://cdn-icons-png.flaticon.com/512/2767/2767163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86805" y="4977772"/>
            <a:ext cx="1275633" cy="127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3558561" y="5003997"/>
            <a:ext cx="425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Setelah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nya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akan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keluar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modal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sesuai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data yang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akan</a:t>
            </a:r>
            <a:r>
              <a:rPr lang="en-US" dirty="0" smtClean="0">
                <a:solidFill>
                  <a:srgbClr val="7388AB"/>
                </a:solidFill>
                <a:latin typeface="Consolas" panose="020B0609020204030204" pitchFamily="49" charset="0"/>
              </a:rPr>
              <a:t> di </a:t>
            </a:r>
            <a:r>
              <a:rPr lang="en-US" dirty="0" err="1" smtClean="0">
                <a:solidFill>
                  <a:srgbClr val="7388AB"/>
                </a:solidFill>
                <a:latin typeface="Consolas" panose="020B0609020204030204" pitchFamily="49" charset="0"/>
              </a:rPr>
              <a:t>isi</a:t>
            </a:r>
            <a:endParaRPr lang="en-US" dirty="0">
              <a:solidFill>
                <a:srgbClr val="7388AB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ight Arrow 5"/>
          <p:cNvSpPr/>
          <p:nvPr/>
        </p:nvSpPr>
        <p:spPr>
          <a:xfrm rot="5400000">
            <a:off x="4534319" y="5613400"/>
            <a:ext cx="609600" cy="68580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8858" y="6365472"/>
            <a:ext cx="4198902" cy="17695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414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23599" y="482494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APPROVAL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sp>
        <p:nvSpPr>
          <p:cNvPr id="30" name="Pentagon 29"/>
          <p:cNvSpPr/>
          <p:nvPr/>
        </p:nvSpPr>
        <p:spPr>
          <a:xfrm flipH="1">
            <a:off x="6316601" y="10147300"/>
            <a:ext cx="1239899" cy="381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7</a:t>
            </a:r>
            <a:endParaRPr lang="en-US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25" y="2527300"/>
            <a:ext cx="7184926" cy="40398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Group 18"/>
          <p:cNvGrpSpPr/>
          <p:nvPr/>
        </p:nvGrpSpPr>
        <p:grpSpPr>
          <a:xfrm>
            <a:off x="154925" y="7449946"/>
            <a:ext cx="7188849" cy="1506931"/>
            <a:chOff x="10368253" y="4122806"/>
            <a:chExt cx="5310915" cy="2824094"/>
          </a:xfrm>
        </p:grpSpPr>
        <p:grpSp>
          <p:nvGrpSpPr>
            <p:cNvPr id="20" name="Group 4"/>
            <p:cNvGrpSpPr/>
            <p:nvPr/>
          </p:nvGrpSpPr>
          <p:grpSpPr>
            <a:xfrm>
              <a:off x="10368253" y="4122806"/>
              <a:ext cx="5310915" cy="2824094"/>
              <a:chOff x="0" y="-28575"/>
              <a:chExt cx="1903312" cy="2181427"/>
            </a:xfrm>
          </p:grpSpPr>
          <p:sp>
            <p:nvSpPr>
              <p:cNvPr id="22" name="Freeform 5"/>
              <p:cNvSpPr/>
              <p:nvPr/>
            </p:nvSpPr>
            <p:spPr>
              <a:xfrm>
                <a:off x="0" y="1"/>
                <a:ext cx="1903312" cy="1949462"/>
              </a:xfrm>
              <a:custGeom>
                <a:avLst/>
                <a:gdLst/>
                <a:ahLst/>
                <a:cxnLst/>
                <a:rect l="l" t="t" r="r" b="b"/>
                <a:pathLst>
                  <a:path w="1903312" h="2152852">
                    <a:moveTo>
                      <a:pt x="55394" y="0"/>
                    </a:moveTo>
                    <a:lnTo>
                      <a:pt x="1847918" y="0"/>
                    </a:lnTo>
                    <a:cubicBezTo>
                      <a:pt x="1878511" y="0"/>
                      <a:pt x="1903312" y="24801"/>
                      <a:pt x="1903312" y="55394"/>
                    </a:cubicBezTo>
                    <a:lnTo>
                      <a:pt x="1903312" y="2097458"/>
                    </a:lnTo>
                    <a:cubicBezTo>
                      <a:pt x="1903312" y="2128051"/>
                      <a:pt x="1878511" y="2152852"/>
                      <a:pt x="1847918" y="2152852"/>
                    </a:cubicBezTo>
                    <a:lnTo>
                      <a:pt x="55394" y="2152852"/>
                    </a:lnTo>
                    <a:cubicBezTo>
                      <a:pt x="24801" y="2152852"/>
                      <a:pt x="0" y="2128051"/>
                      <a:pt x="0" y="2097458"/>
                    </a:cubicBezTo>
                    <a:lnTo>
                      <a:pt x="0" y="55394"/>
                    </a:lnTo>
                    <a:cubicBezTo>
                      <a:pt x="0" y="24801"/>
                      <a:pt x="24801" y="0"/>
                      <a:pt x="553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7388AB"/>
                </a:solidFill>
                <a:prstDash val="solid"/>
                <a:round/>
              </a:ln>
            </p:spPr>
          </p:sp>
          <p:sp>
            <p:nvSpPr>
              <p:cNvPr id="23" name="TextBox 6"/>
              <p:cNvSpPr txBox="1"/>
              <p:nvPr/>
            </p:nvSpPr>
            <p:spPr>
              <a:xfrm>
                <a:off x="0" y="-28575"/>
                <a:ext cx="1903312" cy="2181427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10368253" y="4374570"/>
              <a:ext cx="5308017" cy="2249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Pada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Approval page, Approver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dapat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melihat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history approval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berdasrkan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Waiting, Reject, </a:t>
              </a:r>
              <a:r>
                <a:rPr lang="en-US" b="1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dan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Approved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. Dan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pada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list Waiting, approver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dapat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melakukan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approve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atau</a:t>
              </a:r>
              <a:r>
                <a:rPr lang="en-US" b="1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reject.</a:t>
              </a:r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478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23599" y="482494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APPROVAL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sp>
        <p:nvSpPr>
          <p:cNvPr id="30" name="Pentagon 29"/>
          <p:cNvSpPr/>
          <p:nvPr/>
        </p:nvSpPr>
        <p:spPr>
          <a:xfrm flipH="1">
            <a:off x="6316601" y="10147300"/>
            <a:ext cx="1239899" cy="381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8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694037" y="1917700"/>
            <a:ext cx="3625699" cy="5562600"/>
            <a:chOff x="10368253" y="4122806"/>
            <a:chExt cx="5364604" cy="2824094"/>
          </a:xfrm>
        </p:grpSpPr>
        <p:grpSp>
          <p:nvGrpSpPr>
            <p:cNvPr id="20" name="Group 4"/>
            <p:cNvGrpSpPr/>
            <p:nvPr/>
          </p:nvGrpSpPr>
          <p:grpSpPr>
            <a:xfrm>
              <a:off x="10368253" y="4122806"/>
              <a:ext cx="5310915" cy="2824094"/>
              <a:chOff x="0" y="-28575"/>
              <a:chExt cx="1903312" cy="2181427"/>
            </a:xfrm>
          </p:grpSpPr>
          <p:sp>
            <p:nvSpPr>
              <p:cNvPr id="22" name="Freeform 5"/>
              <p:cNvSpPr/>
              <p:nvPr/>
            </p:nvSpPr>
            <p:spPr>
              <a:xfrm>
                <a:off x="0" y="1"/>
                <a:ext cx="1903312" cy="1949462"/>
              </a:xfrm>
              <a:custGeom>
                <a:avLst/>
                <a:gdLst/>
                <a:ahLst/>
                <a:cxnLst/>
                <a:rect l="l" t="t" r="r" b="b"/>
                <a:pathLst>
                  <a:path w="1903312" h="2152852">
                    <a:moveTo>
                      <a:pt x="55394" y="0"/>
                    </a:moveTo>
                    <a:lnTo>
                      <a:pt x="1847918" y="0"/>
                    </a:lnTo>
                    <a:cubicBezTo>
                      <a:pt x="1878511" y="0"/>
                      <a:pt x="1903312" y="24801"/>
                      <a:pt x="1903312" y="55394"/>
                    </a:cubicBezTo>
                    <a:lnTo>
                      <a:pt x="1903312" y="2097458"/>
                    </a:lnTo>
                    <a:cubicBezTo>
                      <a:pt x="1903312" y="2128051"/>
                      <a:pt x="1878511" y="2152852"/>
                      <a:pt x="1847918" y="2152852"/>
                    </a:cubicBezTo>
                    <a:lnTo>
                      <a:pt x="55394" y="2152852"/>
                    </a:lnTo>
                    <a:cubicBezTo>
                      <a:pt x="24801" y="2152852"/>
                      <a:pt x="0" y="2128051"/>
                      <a:pt x="0" y="2097458"/>
                    </a:cubicBezTo>
                    <a:lnTo>
                      <a:pt x="0" y="55394"/>
                    </a:lnTo>
                    <a:cubicBezTo>
                      <a:pt x="0" y="24801"/>
                      <a:pt x="24801" y="0"/>
                      <a:pt x="553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7388AB"/>
                </a:solidFill>
                <a:prstDash val="solid"/>
                <a:round/>
              </a:ln>
            </p:spPr>
          </p:sp>
          <p:sp>
            <p:nvSpPr>
              <p:cNvPr id="23" name="TextBox 6"/>
              <p:cNvSpPr txBox="1"/>
              <p:nvPr/>
            </p:nvSpPr>
            <p:spPr>
              <a:xfrm>
                <a:off x="0" y="-28575"/>
                <a:ext cx="1903312" cy="2181427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10424841" y="4211572"/>
              <a:ext cx="5308016" cy="1312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Pada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Data History,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kita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dapat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melihat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history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seluruh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data IN-OUT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untuk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Hassu</a:t>
              </a:r>
              <a:r>
                <a:rPr lang="en-US" dirty="0">
                  <a:solidFill>
                    <a:srgbClr val="7388AB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&amp; Repair/Re-Running, data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qty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material, NG,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Losstime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,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Working Time.</a:t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/>
              </a:r>
              <a:b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</a:b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Semua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history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berdasrkan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Line </a:t>
              </a:r>
              <a:r>
                <a:rPr lang="en-US" dirty="0" err="1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dan</a:t>
              </a:r>
              <a:r>
                <a:rPr lang="en-US" dirty="0" smtClean="0">
                  <a:solidFill>
                    <a:srgbClr val="7388AB"/>
                  </a:solidFill>
                  <a:latin typeface="Consolas" panose="020B0609020204030204" pitchFamily="49" charset="0"/>
                </a:rPr>
                <a:t> Part Number.</a:t>
              </a:r>
              <a:endParaRPr lang="en-US" b="1" dirty="0">
                <a:solidFill>
                  <a:srgbClr val="7388AB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7081" y="6258566"/>
            <a:ext cx="7620000" cy="20774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/>
          <a:srcRect l="1923" t="7602" r="56063" b="4925"/>
          <a:stretch/>
        </p:blipFill>
        <p:spPr>
          <a:xfrm>
            <a:off x="304800" y="1990568"/>
            <a:ext cx="3219456" cy="66382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468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1663700" y="1063100"/>
            <a:ext cx="112495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Flowchart: Data 23"/>
          <p:cNvSpPr/>
          <p:nvPr/>
        </p:nvSpPr>
        <p:spPr>
          <a:xfrm>
            <a:off x="0" y="773352"/>
            <a:ext cx="4177101" cy="649790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ata 14"/>
          <p:cNvSpPr/>
          <p:nvPr/>
        </p:nvSpPr>
        <p:spPr>
          <a:xfrm>
            <a:off x="304800" y="393700"/>
            <a:ext cx="5149850" cy="680754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874250" y="-7274598"/>
            <a:ext cx="5531887" cy="2216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81"/>
              </a:lnSpc>
            </a:pPr>
            <a:r>
              <a:rPr lang="en-US" sz="9495" spc="-398" dirty="0">
                <a:solidFill>
                  <a:srgbClr val="7388AB"/>
                </a:solidFill>
                <a:latin typeface="Horizon"/>
                <a:ea typeface="Horizon"/>
                <a:cs typeface="Horizon"/>
                <a:sym typeface="Horizon"/>
              </a:rPr>
              <a:t>SCAN </a:t>
            </a:r>
            <a:r>
              <a:rPr lang="en-US" sz="9495" spc="-398" dirty="0" smtClean="0">
                <a:solidFill>
                  <a:srgbClr val="7388AB"/>
                </a:solidFill>
                <a:latin typeface="Horizon"/>
                <a:ea typeface="Horizon"/>
                <a:cs typeface="Horizon"/>
                <a:sym typeface="Horizon"/>
              </a:rPr>
              <a:t>HRE</a:t>
            </a:r>
            <a:endParaRPr lang="en-US" sz="9495" spc="-398" dirty="0">
              <a:solidFill>
                <a:srgbClr val="7388AB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351250" y="3234603"/>
            <a:ext cx="5310915" cy="6007219"/>
            <a:chOff x="0" y="0"/>
            <a:chExt cx="1903312" cy="21528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3312" cy="2152852"/>
            </a:xfrm>
            <a:custGeom>
              <a:avLst/>
              <a:gdLst/>
              <a:ahLst/>
              <a:cxnLst/>
              <a:rect l="l" t="t" r="r" b="b"/>
              <a:pathLst>
                <a:path w="1903312" h="2152852">
                  <a:moveTo>
                    <a:pt x="55394" y="0"/>
                  </a:moveTo>
                  <a:lnTo>
                    <a:pt x="1847918" y="0"/>
                  </a:lnTo>
                  <a:cubicBezTo>
                    <a:pt x="1878511" y="0"/>
                    <a:pt x="1903312" y="24801"/>
                    <a:pt x="1903312" y="55394"/>
                  </a:cubicBezTo>
                  <a:lnTo>
                    <a:pt x="1903312" y="2097458"/>
                  </a:lnTo>
                  <a:cubicBezTo>
                    <a:pt x="1903312" y="2128051"/>
                    <a:pt x="1878511" y="2152852"/>
                    <a:pt x="1847918" y="2152852"/>
                  </a:cubicBezTo>
                  <a:lnTo>
                    <a:pt x="55394" y="2152852"/>
                  </a:lnTo>
                  <a:cubicBezTo>
                    <a:pt x="24801" y="2152852"/>
                    <a:pt x="0" y="2128051"/>
                    <a:pt x="0" y="2097458"/>
                  </a:cubicBezTo>
                  <a:lnTo>
                    <a:pt x="0" y="55394"/>
                  </a:lnTo>
                  <a:cubicBezTo>
                    <a:pt x="0" y="24801"/>
                    <a:pt x="24801" y="0"/>
                    <a:pt x="5539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7388AB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903312" cy="2181427"/>
            </a:xfrm>
            <a:prstGeom prst="rect">
              <a:avLst/>
            </a:prstGeom>
          </p:spPr>
          <p:txBody>
            <a:bodyPr lIns="84000" tIns="84000" rIns="84000" bIns="840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53334" y="3029070"/>
            <a:ext cx="3110181" cy="16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3"/>
              </a:lnSpc>
            </a:pPr>
            <a:r>
              <a:rPr lang="en-US" sz="1365" spc="-57">
                <a:solidFill>
                  <a:srgbClr val="7388AB"/>
                </a:solidFill>
                <a:latin typeface="Poppins"/>
                <a:ea typeface="Poppins"/>
                <a:cs typeface="Poppins"/>
                <a:sym typeface="Poppins"/>
              </a:rPr>
              <a:t>@reallygreatsite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446250" y="-1587859"/>
            <a:ext cx="5310915" cy="5222676"/>
            <a:chOff x="0" y="0"/>
            <a:chExt cx="1903312" cy="18716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3312" cy="1871689"/>
            </a:xfrm>
            <a:custGeom>
              <a:avLst/>
              <a:gdLst/>
              <a:ahLst/>
              <a:cxnLst/>
              <a:rect l="l" t="t" r="r" b="b"/>
              <a:pathLst>
                <a:path w="1903312" h="1871689">
                  <a:moveTo>
                    <a:pt x="55394" y="0"/>
                  </a:moveTo>
                  <a:lnTo>
                    <a:pt x="1847918" y="0"/>
                  </a:lnTo>
                  <a:cubicBezTo>
                    <a:pt x="1878511" y="0"/>
                    <a:pt x="1903312" y="24801"/>
                    <a:pt x="1903312" y="55394"/>
                  </a:cubicBezTo>
                  <a:lnTo>
                    <a:pt x="1903312" y="1816295"/>
                  </a:lnTo>
                  <a:cubicBezTo>
                    <a:pt x="1903312" y="1846888"/>
                    <a:pt x="1878511" y="1871689"/>
                    <a:pt x="1847918" y="1871689"/>
                  </a:cubicBezTo>
                  <a:lnTo>
                    <a:pt x="55394" y="1871689"/>
                  </a:lnTo>
                  <a:cubicBezTo>
                    <a:pt x="24801" y="1871689"/>
                    <a:pt x="0" y="1846888"/>
                    <a:pt x="0" y="1816295"/>
                  </a:cubicBezTo>
                  <a:lnTo>
                    <a:pt x="0" y="55394"/>
                  </a:lnTo>
                  <a:cubicBezTo>
                    <a:pt x="0" y="24801"/>
                    <a:pt x="24801" y="0"/>
                    <a:pt x="5539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7388AB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903312" cy="1900264"/>
            </a:xfrm>
            <a:prstGeom prst="rect">
              <a:avLst/>
            </a:prstGeom>
          </p:spPr>
          <p:txBody>
            <a:bodyPr lIns="84000" tIns="84000" rIns="84000" bIns="840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248269" y="-317141"/>
            <a:ext cx="4395961" cy="634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5072" spc="-213" dirty="0">
                <a:solidFill>
                  <a:srgbClr val="7388AB"/>
                </a:solidFill>
                <a:latin typeface="Poppins"/>
                <a:ea typeface="Poppins"/>
                <a:cs typeface="Poppins"/>
                <a:sym typeface="Poppins"/>
              </a:rPr>
              <a:t>QR CODE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155171"/>
            <a:ext cx="1600200" cy="1600200"/>
          </a:xfrm>
          <a:prstGeom prst="rect">
            <a:avLst/>
          </a:prstGeom>
        </p:spPr>
      </p:pic>
      <p:cxnSp>
        <p:nvCxnSpPr>
          <p:cNvPr id="16" name="Konektor Lurus 46">
            <a:extLst>
              <a:ext uri="{FF2B5EF4-FFF2-40B4-BE49-F238E27FC236}">
                <a16:creationId xmlns:a16="http://schemas.microsoft.com/office/drawing/2014/main" id="{9D410C79-E66E-5382-25C7-E0E56B6F0B2F}"/>
              </a:ext>
            </a:extLst>
          </p:cNvPr>
          <p:cNvCxnSpPr>
            <a:cxnSpLocks/>
          </p:cNvCxnSpPr>
          <p:nvPr/>
        </p:nvCxnSpPr>
        <p:spPr>
          <a:xfrm>
            <a:off x="425450" y="-2236680"/>
            <a:ext cx="1124952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70D19F-149A-E032-32A9-35FE577FD407}"/>
              </a:ext>
            </a:extLst>
          </p:cNvPr>
          <p:cNvGrpSpPr/>
          <p:nvPr/>
        </p:nvGrpSpPr>
        <p:grpSpPr>
          <a:xfrm>
            <a:off x="272709" y="-2930916"/>
            <a:ext cx="2810340" cy="859440"/>
            <a:chOff x="343647" y="57256"/>
            <a:chExt cx="2810340" cy="859440"/>
          </a:xfrm>
        </p:grpSpPr>
        <p:sp>
          <p:nvSpPr>
            <p:cNvPr id="18" name="Paralelogram 25">
              <a:extLst>
                <a:ext uri="{FF2B5EF4-FFF2-40B4-BE49-F238E27FC236}">
                  <a16:creationId xmlns:a16="http://schemas.microsoft.com/office/drawing/2014/main" id="{5D50FD30-2E2F-A89B-36BA-E9B2BCF835BA}"/>
                </a:ext>
              </a:extLst>
            </p:cNvPr>
            <p:cNvSpPr/>
            <p:nvPr/>
          </p:nvSpPr>
          <p:spPr>
            <a:xfrm>
              <a:off x="439381" y="326315"/>
              <a:ext cx="2206855" cy="535495"/>
            </a:xfrm>
            <a:custGeom>
              <a:avLst/>
              <a:gdLst>
                <a:gd name="connsiteX0" fmla="*/ 0 w 2993328"/>
                <a:gd name="connsiteY0" fmla="*/ 752623 h 752623"/>
                <a:gd name="connsiteX1" fmla="*/ 188156 w 2993328"/>
                <a:gd name="connsiteY1" fmla="*/ 0 h 752623"/>
                <a:gd name="connsiteX2" fmla="*/ 2993328 w 2993328"/>
                <a:gd name="connsiteY2" fmla="*/ 0 h 752623"/>
                <a:gd name="connsiteX3" fmla="*/ 2805172 w 2993328"/>
                <a:gd name="connsiteY3" fmla="*/ 752623 h 752623"/>
                <a:gd name="connsiteX4" fmla="*/ 0 w 2993328"/>
                <a:gd name="connsiteY4" fmla="*/ 752623 h 752623"/>
                <a:gd name="connsiteX0" fmla="*/ 0 w 2993328"/>
                <a:gd name="connsiteY0" fmla="*/ 752623 h 759656"/>
                <a:gd name="connsiteX1" fmla="*/ 188156 w 2993328"/>
                <a:gd name="connsiteY1" fmla="*/ 0 h 759656"/>
                <a:gd name="connsiteX2" fmla="*/ 2993328 w 2993328"/>
                <a:gd name="connsiteY2" fmla="*/ 0 h 759656"/>
                <a:gd name="connsiteX3" fmla="*/ 2594157 w 2993328"/>
                <a:gd name="connsiteY3" fmla="*/ 759656 h 759656"/>
                <a:gd name="connsiteX4" fmla="*/ 0 w 2993328"/>
                <a:gd name="connsiteY4" fmla="*/ 752623 h 759656"/>
                <a:gd name="connsiteX0" fmla="*/ 0 w 2993328"/>
                <a:gd name="connsiteY0" fmla="*/ 752623 h 759656"/>
                <a:gd name="connsiteX1" fmla="*/ 188156 w 2993328"/>
                <a:gd name="connsiteY1" fmla="*/ 0 h 759656"/>
                <a:gd name="connsiteX2" fmla="*/ 2993328 w 2993328"/>
                <a:gd name="connsiteY2" fmla="*/ 0 h 759656"/>
                <a:gd name="connsiteX3" fmla="*/ 2439413 w 2993328"/>
                <a:gd name="connsiteY3" fmla="*/ 759656 h 759656"/>
                <a:gd name="connsiteX4" fmla="*/ 0 w 2993328"/>
                <a:gd name="connsiteY4" fmla="*/ 752623 h 75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3328" h="759656">
                  <a:moveTo>
                    <a:pt x="0" y="752623"/>
                  </a:moveTo>
                  <a:lnTo>
                    <a:pt x="188156" y="0"/>
                  </a:lnTo>
                  <a:lnTo>
                    <a:pt x="2993328" y="0"/>
                  </a:lnTo>
                  <a:lnTo>
                    <a:pt x="2439413" y="759656"/>
                  </a:lnTo>
                  <a:lnTo>
                    <a:pt x="0" y="7526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Paralelogram 25">
              <a:extLst>
                <a:ext uri="{FF2B5EF4-FFF2-40B4-BE49-F238E27FC236}">
                  <a16:creationId xmlns:a16="http://schemas.microsoft.com/office/drawing/2014/main" id="{5D47AECD-2DA2-741E-7EF3-5A764E241262}"/>
                </a:ext>
              </a:extLst>
            </p:cNvPr>
            <p:cNvSpPr/>
            <p:nvPr/>
          </p:nvSpPr>
          <p:spPr>
            <a:xfrm>
              <a:off x="947132" y="318685"/>
              <a:ext cx="2206855" cy="461665"/>
            </a:xfrm>
            <a:custGeom>
              <a:avLst/>
              <a:gdLst>
                <a:gd name="connsiteX0" fmla="*/ 0 w 2993328"/>
                <a:gd name="connsiteY0" fmla="*/ 752623 h 752623"/>
                <a:gd name="connsiteX1" fmla="*/ 188156 w 2993328"/>
                <a:gd name="connsiteY1" fmla="*/ 0 h 752623"/>
                <a:gd name="connsiteX2" fmla="*/ 2993328 w 2993328"/>
                <a:gd name="connsiteY2" fmla="*/ 0 h 752623"/>
                <a:gd name="connsiteX3" fmla="*/ 2805172 w 2993328"/>
                <a:gd name="connsiteY3" fmla="*/ 752623 h 752623"/>
                <a:gd name="connsiteX4" fmla="*/ 0 w 2993328"/>
                <a:gd name="connsiteY4" fmla="*/ 752623 h 752623"/>
                <a:gd name="connsiteX0" fmla="*/ 0 w 2993328"/>
                <a:gd name="connsiteY0" fmla="*/ 752623 h 759656"/>
                <a:gd name="connsiteX1" fmla="*/ 188156 w 2993328"/>
                <a:gd name="connsiteY1" fmla="*/ 0 h 759656"/>
                <a:gd name="connsiteX2" fmla="*/ 2993328 w 2993328"/>
                <a:gd name="connsiteY2" fmla="*/ 0 h 759656"/>
                <a:gd name="connsiteX3" fmla="*/ 2594157 w 2993328"/>
                <a:gd name="connsiteY3" fmla="*/ 759656 h 759656"/>
                <a:gd name="connsiteX4" fmla="*/ 0 w 2993328"/>
                <a:gd name="connsiteY4" fmla="*/ 752623 h 759656"/>
                <a:gd name="connsiteX0" fmla="*/ 0 w 2993328"/>
                <a:gd name="connsiteY0" fmla="*/ 752623 h 759656"/>
                <a:gd name="connsiteX1" fmla="*/ 188156 w 2993328"/>
                <a:gd name="connsiteY1" fmla="*/ 0 h 759656"/>
                <a:gd name="connsiteX2" fmla="*/ 2993328 w 2993328"/>
                <a:gd name="connsiteY2" fmla="*/ 0 h 759656"/>
                <a:gd name="connsiteX3" fmla="*/ 2439413 w 2993328"/>
                <a:gd name="connsiteY3" fmla="*/ 759656 h 759656"/>
                <a:gd name="connsiteX4" fmla="*/ 0 w 2993328"/>
                <a:gd name="connsiteY4" fmla="*/ 752623 h 75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3328" h="759656">
                  <a:moveTo>
                    <a:pt x="0" y="752623"/>
                  </a:moveTo>
                  <a:lnTo>
                    <a:pt x="188156" y="0"/>
                  </a:lnTo>
                  <a:lnTo>
                    <a:pt x="2993328" y="0"/>
                  </a:lnTo>
                  <a:lnTo>
                    <a:pt x="2439413" y="759656"/>
                  </a:lnTo>
                  <a:lnTo>
                    <a:pt x="0" y="752623"/>
                  </a:lnTo>
                  <a:close/>
                </a:path>
              </a:pathLst>
            </a:custGeom>
            <a:solidFill>
              <a:srgbClr val="F4F2DE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85">
              <a:extLst>
                <a:ext uri="{FF2B5EF4-FFF2-40B4-BE49-F238E27FC236}">
                  <a16:creationId xmlns:a16="http://schemas.microsoft.com/office/drawing/2014/main" id="{932FA69B-7235-88B4-44B9-92C7CC531A11}"/>
                </a:ext>
              </a:extLst>
            </p:cNvPr>
            <p:cNvSpPr txBox="1"/>
            <p:nvPr/>
          </p:nvSpPr>
          <p:spPr>
            <a:xfrm>
              <a:off x="1245971" y="365605"/>
              <a:ext cx="17204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1">
                      <a:lumMod val="50000"/>
                    </a:schemeClr>
                  </a:solidFill>
                </a:rPr>
                <a:t>Smart HR GA System</a:t>
              </a:r>
            </a:p>
          </p:txBody>
        </p:sp>
        <p:sp>
          <p:nvSpPr>
            <p:cNvPr id="21" name="Bagan alur: Konektor 48">
              <a:extLst>
                <a:ext uri="{FF2B5EF4-FFF2-40B4-BE49-F238E27FC236}">
                  <a16:creationId xmlns:a16="http://schemas.microsoft.com/office/drawing/2014/main" id="{40E637DC-7212-5311-BAE5-09DF1F6574DA}"/>
                </a:ext>
              </a:extLst>
            </p:cNvPr>
            <p:cNvSpPr/>
            <p:nvPr/>
          </p:nvSpPr>
          <p:spPr>
            <a:xfrm flipH="1">
              <a:off x="343647" y="57256"/>
              <a:ext cx="921978" cy="859440"/>
            </a:xfrm>
            <a:prstGeom prst="flowChartConnector">
              <a:avLst/>
            </a:prstGeom>
            <a:noFill/>
            <a:ln w="28575">
              <a:solidFill>
                <a:schemeClr val="accent1">
                  <a:lumMod val="50000"/>
                </a:schemeClr>
              </a:solidFill>
              <a:prstDash val="dashDot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Bagan alur: Konektor 48">
              <a:extLst>
                <a:ext uri="{FF2B5EF4-FFF2-40B4-BE49-F238E27FC236}">
                  <a16:creationId xmlns:a16="http://schemas.microsoft.com/office/drawing/2014/main" id="{57397C9B-4D00-058B-C918-3DD70C93077E}"/>
                </a:ext>
              </a:extLst>
            </p:cNvPr>
            <p:cNvSpPr/>
            <p:nvPr/>
          </p:nvSpPr>
          <p:spPr>
            <a:xfrm flipH="1">
              <a:off x="439381" y="160110"/>
              <a:ext cx="748154" cy="679285"/>
            </a:xfrm>
            <a:prstGeom prst="flowChartConnector">
              <a:avLst/>
            </a:prstGeom>
            <a:solidFill>
              <a:srgbClr val="203864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45">
              <a:extLst>
                <a:ext uri="{FF2B5EF4-FFF2-40B4-BE49-F238E27FC236}">
                  <a16:creationId xmlns:a16="http://schemas.microsoft.com/office/drawing/2014/main" id="{568D5BF9-9FED-9496-3BF8-B129A55838EB}"/>
                </a:ext>
              </a:extLst>
            </p:cNvPr>
            <p:cNvSpPr txBox="1"/>
            <p:nvPr/>
          </p:nvSpPr>
          <p:spPr>
            <a:xfrm>
              <a:off x="414493" y="268919"/>
              <a:ext cx="8262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SHS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11"/>
          <p:cNvSpPr txBox="1"/>
          <p:nvPr/>
        </p:nvSpPr>
        <p:spPr>
          <a:xfrm>
            <a:off x="1219237" y="482494"/>
            <a:ext cx="3269051" cy="54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600" b="1" spc="-213" dirty="0" smtClean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DASHBOARD</a:t>
            </a:r>
            <a:endParaRPr lang="en-US" sz="4000" b="1" spc="-213" dirty="0">
              <a:solidFill>
                <a:schemeClr val="bg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8628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874250" y="-7274598"/>
            <a:ext cx="5531887" cy="2216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81"/>
              </a:lnSpc>
            </a:pPr>
            <a:r>
              <a:rPr lang="en-US" sz="9495" spc="-398" dirty="0">
                <a:solidFill>
                  <a:srgbClr val="7388AB"/>
                </a:solidFill>
                <a:latin typeface="Horizon"/>
                <a:ea typeface="Horizon"/>
                <a:cs typeface="Horizon"/>
                <a:sym typeface="Horizon"/>
              </a:rPr>
              <a:t>SCAN HERE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351250" y="3234603"/>
            <a:ext cx="5310915" cy="6007219"/>
            <a:chOff x="0" y="0"/>
            <a:chExt cx="1903312" cy="21528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3312" cy="2152852"/>
            </a:xfrm>
            <a:custGeom>
              <a:avLst/>
              <a:gdLst/>
              <a:ahLst/>
              <a:cxnLst/>
              <a:rect l="l" t="t" r="r" b="b"/>
              <a:pathLst>
                <a:path w="1903312" h="2152852">
                  <a:moveTo>
                    <a:pt x="55394" y="0"/>
                  </a:moveTo>
                  <a:lnTo>
                    <a:pt x="1847918" y="0"/>
                  </a:lnTo>
                  <a:cubicBezTo>
                    <a:pt x="1878511" y="0"/>
                    <a:pt x="1903312" y="24801"/>
                    <a:pt x="1903312" y="55394"/>
                  </a:cubicBezTo>
                  <a:lnTo>
                    <a:pt x="1903312" y="2097458"/>
                  </a:lnTo>
                  <a:cubicBezTo>
                    <a:pt x="1903312" y="2128051"/>
                    <a:pt x="1878511" y="2152852"/>
                    <a:pt x="1847918" y="2152852"/>
                  </a:cubicBezTo>
                  <a:lnTo>
                    <a:pt x="55394" y="2152852"/>
                  </a:lnTo>
                  <a:cubicBezTo>
                    <a:pt x="24801" y="2152852"/>
                    <a:pt x="0" y="2128051"/>
                    <a:pt x="0" y="2097458"/>
                  </a:cubicBezTo>
                  <a:lnTo>
                    <a:pt x="0" y="55394"/>
                  </a:lnTo>
                  <a:cubicBezTo>
                    <a:pt x="0" y="24801"/>
                    <a:pt x="24801" y="0"/>
                    <a:pt x="5539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7388AB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903312" cy="2181427"/>
            </a:xfrm>
            <a:prstGeom prst="rect">
              <a:avLst/>
            </a:prstGeom>
          </p:spPr>
          <p:txBody>
            <a:bodyPr lIns="84000" tIns="84000" rIns="84000" bIns="840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53334" y="3029070"/>
            <a:ext cx="3110181" cy="16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3"/>
              </a:lnSpc>
            </a:pPr>
            <a:r>
              <a:rPr lang="en-US" sz="1365" spc="-57">
                <a:solidFill>
                  <a:srgbClr val="7388AB"/>
                </a:solidFill>
                <a:latin typeface="Poppins"/>
                <a:ea typeface="Poppins"/>
                <a:cs typeface="Poppins"/>
                <a:sym typeface="Poppins"/>
              </a:rPr>
              <a:t>@reallygreatsite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446250" y="-1587859"/>
            <a:ext cx="5310915" cy="5222676"/>
            <a:chOff x="0" y="0"/>
            <a:chExt cx="1903312" cy="18716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3312" cy="1871689"/>
            </a:xfrm>
            <a:custGeom>
              <a:avLst/>
              <a:gdLst/>
              <a:ahLst/>
              <a:cxnLst/>
              <a:rect l="l" t="t" r="r" b="b"/>
              <a:pathLst>
                <a:path w="1903312" h="1871689">
                  <a:moveTo>
                    <a:pt x="55394" y="0"/>
                  </a:moveTo>
                  <a:lnTo>
                    <a:pt x="1847918" y="0"/>
                  </a:lnTo>
                  <a:cubicBezTo>
                    <a:pt x="1878511" y="0"/>
                    <a:pt x="1903312" y="24801"/>
                    <a:pt x="1903312" y="55394"/>
                  </a:cubicBezTo>
                  <a:lnTo>
                    <a:pt x="1903312" y="1816295"/>
                  </a:lnTo>
                  <a:cubicBezTo>
                    <a:pt x="1903312" y="1846888"/>
                    <a:pt x="1878511" y="1871689"/>
                    <a:pt x="1847918" y="1871689"/>
                  </a:cubicBezTo>
                  <a:lnTo>
                    <a:pt x="55394" y="1871689"/>
                  </a:lnTo>
                  <a:cubicBezTo>
                    <a:pt x="24801" y="1871689"/>
                    <a:pt x="0" y="1846888"/>
                    <a:pt x="0" y="1816295"/>
                  </a:cubicBezTo>
                  <a:lnTo>
                    <a:pt x="0" y="55394"/>
                  </a:lnTo>
                  <a:cubicBezTo>
                    <a:pt x="0" y="24801"/>
                    <a:pt x="24801" y="0"/>
                    <a:pt x="5539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7388AB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903312" cy="1900264"/>
            </a:xfrm>
            <a:prstGeom prst="rect">
              <a:avLst/>
            </a:prstGeom>
          </p:spPr>
          <p:txBody>
            <a:bodyPr lIns="84000" tIns="84000" rIns="84000" bIns="840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248269" y="-317141"/>
            <a:ext cx="4395961" cy="634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5072" spc="-213" dirty="0">
                <a:solidFill>
                  <a:srgbClr val="7388AB"/>
                </a:solidFill>
                <a:latin typeface="Poppins"/>
                <a:ea typeface="Poppins"/>
                <a:cs typeface="Poppins"/>
                <a:sym typeface="Poppins"/>
              </a:rPr>
              <a:t>QR CODE</a:t>
            </a:r>
          </a:p>
        </p:txBody>
      </p:sp>
      <p:sp>
        <p:nvSpPr>
          <p:cNvPr id="13" name="Pentagon 12"/>
          <p:cNvSpPr/>
          <p:nvPr/>
        </p:nvSpPr>
        <p:spPr>
          <a:xfrm>
            <a:off x="1219236" y="416861"/>
            <a:ext cx="6140413" cy="1258148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93435"/>
            <a:ext cx="1905000" cy="1905000"/>
          </a:xfrm>
          <a:prstGeom prst="rect">
            <a:avLst/>
          </a:prstGeom>
        </p:spPr>
      </p:pic>
      <p:sp>
        <p:nvSpPr>
          <p:cNvPr id="15" name="Flowchart: Data 14"/>
          <p:cNvSpPr/>
          <p:nvPr/>
        </p:nvSpPr>
        <p:spPr>
          <a:xfrm>
            <a:off x="-8966125" y="2298700"/>
            <a:ext cx="7696200" cy="609600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8025" y="1804248"/>
            <a:ext cx="12674525" cy="8889152"/>
          </a:xfrm>
          <a:custGeom>
            <a:avLst/>
            <a:gdLst/>
            <a:ahLst/>
            <a:cxnLst/>
            <a:rect l="l" t="t" r="r" b="b"/>
            <a:pathLst>
              <a:path w="12674525" h="8889152">
                <a:moveTo>
                  <a:pt x="0" y="0"/>
                </a:moveTo>
                <a:lnTo>
                  <a:pt x="12674525" y="0"/>
                </a:lnTo>
                <a:lnTo>
                  <a:pt x="12674525" y="8889151"/>
                </a:lnTo>
                <a:lnTo>
                  <a:pt x="0" y="888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6756" b="-675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874250" y="-7274598"/>
            <a:ext cx="5531887" cy="2216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81"/>
              </a:lnSpc>
            </a:pPr>
            <a:r>
              <a:rPr lang="en-US" sz="9495" spc="-398" dirty="0">
                <a:solidFill>
                  <a:srgbClr val="7388AB"/>
                </a:solidFill>
                <a:latin typeface="Horizon"/>
                <a:ea typeface="Horizon"/>
                <a:cs typeface="Horizon"/>
                <a:sym typeface="Horizon"/>
              </a:rPr>
              <a:t>SCAN HERE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351250" y="3234603"/>
            <a:ext cx="5310915" cy="6007219"/>
            <a:chOff x="0" y="0"/>
            <a:chExt cx="1903312" cy="21528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3312" cy="2152852"/>
            </a:xfrm>
            <a:custGeom>
              <a:avLst/>
              <a:gdLst/>
              <a:ahLst/>
              <a:cxnLst/>
              <a:rect l="l" t="t" r="r" b="b"/>
              <a:pathLst>
                <a:path w="1903312" h="2152852">
                  <a:moveTo>
                    <a:pt x="55394" y="0"/>
                  </a:moveTo>
                  <a:lnTo>
                    <a:pt x="1847918" y="0"/>
                  </a:lnTo>
                  <a:cubicBezTo>
                    <a:pt x="1878511" y="0"/>
                    <a:pt x="1903312" y="24801"/>
                    <a:pt x="1903312" y="55394"/>
                  </a:cubicBezTo>
                  <a:lnTo>
                    <a:pt x="1903312" y="2097458"/>
                  </a:lnTo>
                  <a:cubicBezTo>
                    <a:pt x="1903312" y="2128051"/>
                    <a:pt x="1878511" y="2152852"/>
                    <a:pt x="1847918" y="2152852"/>
                  </a:cubicBezTo>
                  <a:lnTo>
                    <a:pt x="55394" y="2152852"/>
                  </a:lnTo>
                  <a:cubicBezTo>
                    <a:pt x="24801" y="2152852"/>
                    <a:pt x="0" y="2128051"/>
                    <a:pt x="0" y="2097458"/>
                  </a:cubicBezTo>
                  <a:lnTo>
                    <a:pt x="0" y="55394"/>
                  </a:lnTo>
                  <a:cubicBezTo>
                    <a:pt x="0" y="24801"/>
                    <a:pt x="24801" y="0"/>
                    <a:pt x="5539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7388AB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903312" cy="2181427"/>
            </a:xfrm>
            <a:prstGeom prst="rect">
              <a:avLst/>
            </a:prstGeom>
          </p:spPr>
          <p:txBody>
            <a:bodyPr lIns="84000" tIns="84000" rIns="84000" bIns="840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53334" y="3029070"/>
            <a:ext cx="3110181" cy="16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3"/>
              </a:lnSpc>
            </a:pPr>
            <a:r>
              <a:rPr lang="en-US" sz="1365" spc="-57">
                <a:solidFill>
                  <a:srgbClr val="7388AB"/>
                </a:solidFill>
                <a:latin typeface="Poppins"/>
                <a:ea typeface="Poppins"/>
                <a:cs typeface="Poppins"/>
                <a:sym typeface="Poppins"/>
              </a:rPr>
              <a:t>@reallygreatsite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446250" y="-1587859"/>
            <a:ext cx="5310915" cy="5222676"/>
            <a:chOff x="0" y="0"/>
            <a:chExt cx="1903312" cy="18716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3312" cy="1871689"/>
            </a:xfrm>
            <a:custGeom>
              <a:avLst/>
              <a:gdLst/>
              <a:ahLst/>
              <a:cxnLst/>
              <a:rect l="l" t="t" r="r" b="b"/>
              <a:pathLst>
                <a:path w="1903312" h="1871689">
                  <a:moveTo>
                    <a:pt x="55394" y="0"/>
                  </a:moveTo>
                  <a:lnTo>
                    <a:pt x="1847918" y="0"/>
                  </a:lnTo>
                  <a:cubicBezTo>
                    <a:pt x="1878511" y="0"/>
                    <a:pt x="1903312" y="24801"/>
                    <a:pt x="1903312" y="55394"/>
                  </a:cubicBezTo>
                  <a:lnTo>
                    <a:pt x="1903312" y="1816295"/>
                  </a:lnTo>
                  <a:cubicBezTo>
                    <a:pt x="1903312" y="1846888"/>
                    <a:pt x="1878511" y="1871689"/>
                    <a:pt x="1847918" y="1871689"/>
                  </a:cubicBezTo>
                  <a:lnTo>
                    <a:pt x="55394" y="1871689"/>
                  </a:lnTo>
                  <a:cubicBezTo>
                    <a:pt x="24801" y="1871689"/>
                    <a:pt x="0" y="1846888"/>
                    <a:pt x="0" y="1816295"/>
                  </a:cubicBezTo>
                  <a:lnTo>
                    <a:pt x="0" y="55394"/>
                  </a:lnTo>
                  <a:cubicBezTo>
                    <a:pt x="0" y="24801"/>
                    <a:pt x="24801" y="0"/>
                    <a:pt x="5539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7388AB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903312" cy="1900264"/>
            </a:xfrm>
            <a:prstGeom prst="rect">
              <a:avLst/>
            </a:prstGeom>
          </p:spPr>
          <p:txBody>
            <a:bodyPr lIns="84000" tIns="84000" rIns="84000" bIns="840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248269" y="-317141"/>
            <a:ext cx="4395961" cy="634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5072" spc="-213" dirty="0">
                <a:solidFill>
                  <a:srgbClr val="7388AB"/>
                </a:solidFill>
                <a:latin typeface="Poppins"/>
                <a:ea typeface="Poppins"/>
                <a:cs typeface="Poppins"/>
                <a:sym typeface="Poppins"/>
              </a:rPr>
              <a:t>QR CODE</a:t>
            </a:r>
          </a:p>
        </p:txBody>
      </p:sp>
      <p:sp>
        <p:nvSpPr>
          <p:cNvPr id="13" name="Pentagon 12"/>
          <p:cNvSpPr/>
          <p:nvPr/>
        </p:nvSpPr>
        <p:spPr>
          <a:xfrm>
            <a:off x="1219236" y="416861"/>
            <a:ext cx="6140413" cy="1258148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93435"/>
            <a:ext cx="1905000" cy="1905000"/>
          </a:xfrm>
          <a:prstGeom prst="rect">
            <a:avLst/>
          </a:prstGeom>
        </p:spPr>
      </p:pic>
      <p:sp>
        <p:nvSpPr>
          <p:cNvPr id="15" name="Flowchart: Data 14"/>
          <p:cNvSpPr/>
          <p:nvPr/>
        </p:nvSpPr>
        <p:spPr>
          <a:xfrm>
            <a:off x="441342" y="1065409"/>
            <a:ext cx="7696200" cy="609600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8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559</Words>
  <Application>Microsoft Office PowerPoint</Application>
  <PresentationFormat>Custom</PresentationFormat>
  <Paragraphs>137</Paragraphs>
  <Slides>14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Poppins</vt:lpstr>
      <vt:lpstr>Consolas</vt:lpstr>
      <vt:lpstr>Horizon</vt:lpstr>
      <vt:lpstr>Arial</vt:lpstr>
      <vt:lpstr>Microsoft Sans Serif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DMIADX</dc:creator>
  <cp:lastModifiedBy>Dmia Dx Development (DMIA)</cp:lastModifiedBy>
  <cp:revision>29</cp:revision>
  <dcterms:created xsi:type="dcterms:W3CDTF">2006-08-16T00:00:00Z</dcterms:created>
  <dcterms:modified xsi:type="dcterms:W3CDTF">2025-03-24T02:47:18Z</dcterms:modified>
  <dc:identifier>DAGewUGSKog</dc:identifier>
</cp:coreProperties>
</file>